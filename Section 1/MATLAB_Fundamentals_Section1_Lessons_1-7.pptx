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  <Relationship Id="rId53" Type="http://schemas.openxmlformats.org/officeDocument/2006/relationships/slide" Target="slides/slide47.xml"/>
  <Relationship Id="rId54" Type="http://schemas.openxmlformats.org/officeDocument/2006/relationships/slide" Target="slides/slide48.xml"/>
  
  
  
  
  
  
  
  
  
  
  
  
  
  
  
  
  
  
  
  
  
  
  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09"/>
            <a:ext cx="10566400" cy="383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09"/>
            <a:ext cx="10566400" cy="383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455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43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6500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steps in programming and numeric computing with MATLAB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5131664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551664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START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7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MATLAB?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2"/>
            <a:ext cx="4918456" cy="300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is a programming and numeric computing environment used by engineers and scientists to analyze data, develop algorithms, and create models and plots.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2"/>
            <a:ext cx="5384800" cy="2981590"/>
          </a:xfrm>
          <a:prstGeom prst="roundRect">
            <a:avLst>
              <a:gd name="adj" fmla="val 340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2"/>
            <a:ext cx="491845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NAME COMES FROM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9200" y="2951339"/>
            <a:ext cx="4918456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LABoratory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99200" y="3606624"/>
            <a:ext cx="4918456" cy="1305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Cleve Moler created it in the late 1970s so students could use matrix software without writing Fortran. MathWorks was founded in 1984.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START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use MATLAB?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9310" y="2209712"/>
            <a:ext cx="10859262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based: arrays are the basic data type, so working on whole data sets takes very little code.</a:t>
            </a:r>
            <a:endParaRPr lang="en-US" sz="2000" dirty="0"/>
          </a:p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Interactive: type a command and see the result immediately.</a:t>
            </a:r>
            <a:endParaRPr lang="en-US" sz="2000" dirty="0"/>
          </a:p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functions for math, data analysis and plotting.</a:t>
            </a:r>
            <a:endParaRPr lang="en-US" sz="2000" dirty="0"/>
          </a:p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Toolboxes add specialized tools for areas such as signal processing, control and machine learning.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2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2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1: Enter Commands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8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1 of 10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command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command in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Window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&gt;&gt;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prompt, then press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MATLAB runs it and shows the result.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3*5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multiply 3 and 5 with the command 3*5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a result in a variable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Unless you name an output variable, MATLAB stores the result in a variable called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To keep a result under your own name, write the name,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the expression.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41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7 + 3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 = 3*5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the result of 3*5 to a variable named 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assignment operator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equal sign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not a math equation. MATLAB evaluates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side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first, then assigns the result to the variable on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So m = m + 1 reads the old m, adds 1, and stores the new value back in 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133600"/>
          </a:xfrm>
          <a:prstGeom prst="roundRect">
            <a:avLst>
              <a:gd name="adj" fmla="val 4762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3 + 4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648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m = m + 1 and watch what happens to 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Workspace panel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5226586" cy="1510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panel, on the right, lists every variable you have created, with its value, size and class.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4845" y="2221002"/>
          <a:ext cx="5074356" cy="1473729"/>
        </p:xfrm>
        <a:graphic>
          <a:graphicData uri="http://schemas.openxmlformats.org/drawingml/2006/table">
            <a:tbl>
              <a:tblPr/>
              <a:tblGrid>
                <a:gridCol w="1268589"/>
                <a:gridCol w="1268589"/>
                <a:gridCol w="1268589"/>
                <a:gridCol w="1268589"/>
              </a:tblGrid>
              <a:tr h="491243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91243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1x1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double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43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1x1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double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3999530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variable y with the value of m/2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 output with a semicolon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semicolon, MATLAB displays the result. With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the end it still runs the command, but hides the output. The variable still appears in the Workspace.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41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5 + 1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5 + 1;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k = 8 - 2; then find k in the Workspace panel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 previous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arrow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key to bring back earlier commands, then edit and run them. The Command Window must be the active window for this to 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 = 3*5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↑ edit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 = 3*k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Up to recall m = 3*5, change it to m = 3*k, then press Enter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9"/>
              </a:lnSpc>
              <a:buNone/>
            </a:pPr>
            <a:r>
              <a:rPr lang="en-US" sz="1335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7 + FURTHER PRACTICE</a:t>
            </a:r>
            <a:endParaRPr lang="en-US" sz="133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54138"/>
            <a:ext cx="10883392" cy="44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17"/>
              </a:lnSpc>
              <a:buNone/>
            </a:pPr>
            <a:r>
              <a:rPr lang="en-US" sz="3015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keep their values</a:t>
            </a:r>
            <a:endParaRPr lang="en-US" sz="3015" dirty="0"/>
          </a:p>
        </p:txBody>
      </p:sp>
      <p:sp>
        <p:nvSpPr>
          <p:cNvPr id="4" name="Text 2"/>
          <p:cNvSpPr/>
          <p:nvPr/>
        </p:nvSpPr>
        <p:spPr>
          <a:xfrm>
            <a:off x="812800" y="2076977"/>
            <a:ext cx="4918456" cy="281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just a variable name to see its current value. y was calculated from the old m, so it is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unchanged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m changed: MATLAB does not rerun earlier commands. To update y, run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= m/2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again.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076977"/>
            <a:ext cx="5384800" cy="2787738"/>
          </a:xfrm>
          <a:prstGeom prst="roundRect">
            <a:avLst>
              <a:gd name="adj" fmla="val 3645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381777"/>
            <a:ext cx="4918456" cy="38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</a:t>
            </a:r>
            <a:endParaRPr lang="en-US" sz="1913" dirty="0"/>
          </a:p>
        </p:txBody>
      </p:sp>
      <p:sp>
        <p:nvSpPr>
          <p:cNvPr id="7" name="Text 5"/>
          <p:cNvSpPr/>
          <p:nvPr/>
        </p:nvSpPr>
        <p:spPr>
          <a:xfrm>
            <a:off x="6299200" y="2744874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1913" dirty="0"/>
          </a:p>
        </p:txBody>
      </p:sp>
      <p:sp>
        <p:nvSpPr>
          <p:cNvPr id="8" name="Text 6"/>
          <p:cNvSpPr/>
          <p:nvPr/>
        </p:nvSpPr>
        <p:spPr>
          <a:xfrm>
            <a:off x="6299200" y="3107885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8</a:t>
            </a:r>
            <a:endParaRPr lang="en-US" sz="1913" dirty="0"/>
          </a:p>
        </p:txBody>
      </p:sp>
      <p:sp>
        <p:nvSpPr>
          <p:cNvPr id="9" name="Text 7"/>
          <p:cNvSpPr/>
          <p:nvPr/>
        </p:nvSpPr>
        <p:spPr>
          <a:xfrm>
            <a:off x="6299200" y="3470895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 = m/2</a:t>
            </a:r>
            <a:endParaRPr lang="en-US" sz="1913" dirty="0"/>
          </a:p>
        </p:txBody>
      </p:sp>
      <p:sp>
        <p:nvSpPr>
          <p:cNvPr id="10" name="Text 8"/>
          <p:cNvSpPr/>
          <p:nvPr/>
        </p:nvSpPr>
        <p:spPr>
          <a:xfrm>
            <a:off x="6299200" y="3833899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1913" dirty="0"/>
          </a:p>
        </p:txBody>
      </p:sp>
      <p:sp>
        <p:nvSpPr>
          <p:cNvPr id="11" name="Text 9"/>
          <p:cNvSpPr/>
          <p:nvPr/>
        </p:nvSpPr>
        <p:spPr>
          <a:xfrm>
            <a:off x="6299200" y="4196910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9</a:t>
            </a:r>
            <a:endParaRPr lang="en-US" sz="1913" dirty="0"/>
          </a:p>
        </p:txBody>
      </p:sp>
      <p:sp>
        <p:nvSpPr>
          <p:cNvPr id="12" name="Text 10"/>
          <p:cNvSpPr/>
          <p:nvPr/>
        </p:nvSpPr>
        <p:spPr>
          <a:xfrm>
            <a:off x="812800" y="5169520"/>
            <a:ext cx="10566400" cy="672483"/>
          </a:xfrm>
          <a:prstGeom prst="roundRect">
            <a:avLst>
              <a:gd name="adj" fmla="val 15108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118"/>
              </a:lnSpc>
              <a:buNone/>
            </a:pPr>
            <a:r>
              <a:rPr lang="en-US" sz="1513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y and press Enter. Then recall y = m/2 with the Up arrow and run it without a semicolon.</a:t>
            </a:r>
            <a:endParaRPr lang="en-US" sz="151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2: Name Variables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9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2 of 10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naming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name must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 letter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contain only letters (A-Z, a-z), numbers and underscores (_). Variable names are also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sensitive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a and A are two different variables.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-2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-2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variable named A with the value -2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meaningful names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now exist in the Workspace. Single letters work, but a meaningful name such as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meanAa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your code easier to read.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3835313"/>
            <a:ext cx="4918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a =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meanAa = (a + A)/2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A and a to calculate (a + A)/2 and store the result in a variable named meanAa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 variable names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an invalid name, MATLAB shows an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message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correction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Use the correction, modify it, or press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delete the suggestion.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4000"/>
          </a:xfrm>
          <a:prstGeom prst="roundRect">
            <a:avLst>
              <a:gd name="adj" fmla="val 66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3sq = 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Error + suggested fix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4038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creating 3sq = 9 and read the error message and the suggested correction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3: Save and Load Variables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3 of 10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variables to a MAT-file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to store the variables in your workspace in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MAT-file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file format specific to MATLAB. To save everything to filename.mat, type save followed by the file name.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778000"/>
          </a:xfrm>
          <a:prstGeom prst="roundRect">
            <a:avLst>
              <a:gd name="adj" fmla="val 5714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save filename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4292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all the variables in the workspace to a file named datafile.mat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the workspace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 switch to a new problem, you may want to tidy up your workspace.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removes all the variables from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42240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clear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936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the workspace using the clear command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variables from a MAT-file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at the Workspace panel: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removed all the variables. To bring variables back from a MAT-file, use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42240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load filename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936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the variables from the file datafile.mat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a loaded variable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variable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now listed in the Workspace panel. To see the contents of any variable, enter its name in the Command Window.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42240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myvar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936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the contents of the variable data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the Command Window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cleans up the workspace.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cleans up the Command Window.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4000"/>
          </a:xfrm>
          <a:prstGeom prst="roundRect">
            <a:avLst>
              <a:gd name="adj" fmla="val 66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clear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clc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4038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the Command Window using the clc command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and load only some variables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MATLAB clears the workspace, so save your variables in MAT-files first. To load or save only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variables, add their names after the file name.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4000"/>
          </a:xfrm>
          <a:prstGeom prst="roundRect">
            <a:avLst>
              <a:gd name="adj" fmla="val 66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load myData 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save justk 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4038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just the variable k from myData.mat, then save k to a new MAT-file named justk.mat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4: Use Built-in Functions and Constants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4 of 10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constants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contains built-in constants, such as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π. The Command Window shows only four decimal places, but MATLAB stores the constant with more.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pi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3.1416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create a variable named x with a value of π/2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functions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has a wide variety of built-in functions, such as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(absolute value)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(eigenvalues). Pass inputs to a function inside parentheses, like function notation in math.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sin(-5)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0.9589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calculate the sine of x with the sin function and assign the result to a variable named y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a square root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sqrt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function works like sin: put the input in parentheses. Check the Workspace to see how the result is stored.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066800"/>
          </a:xfrm>
          <a:prstGeom prst="roundRect">
            <a:avLst>
              <a:gd name="adj" fmla="val 9524"/>
            </a:avLst>
          </a:prstGeom>
          <a:solidFill>
            <a:srgbClr val="0F1C2E"/>
          </a:solidFill>
          <a:ln/>
        </p:spPr>
        <p:txBody>
          <a:bodyPr wrap="square" lIns="275042" tIns="275042" rIns="131786" bIns="2496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z = sqrt(-9)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581313"/>
            <a:ext cx="10566400" cy="1046339"/>
          </a:xfrm>
          <a:prstGeom prst="roundRect">
            <a:avLst>
              <a:gd name="adj" fmla="val 9710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calculate the square root of -9 with the sqrt function and assign the result to a variable named z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Imaginary numbers and display format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square root of -9 contains the imaginary number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which is also a built-in constant. The Command Window shows only four decimal places;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function controls how many are displayed.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41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format long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format short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display more decimal places of x with format long, then switch back with format short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84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5: Scripts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5 of 10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script?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a file of MATLAB commands saved with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extension. When you run it, MATLAB executes the commands in order, so you can reuse them without retyping.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 myscript.m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 5;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 x*2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holds the same commands you would type in the Command Window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save a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On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tab click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Script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or type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followed by a name. Write your commands in the Editor, then click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name follows the variable naming rules.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288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edit myscript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800" y="43433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script named myscript.m and save it in the Current Folder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Click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in the Editor, or type the script name, without .m, in the Command Window. The variables the script creates appear in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myscript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myscript from the Command Window and find x and y in the Workspace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comments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line that starts with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a comment. MATLAB ignores it, so use comments to explain what your code does and why.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 convert minutes to seconds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mins = 4;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secs = mins*60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comment above each command in your script describing what it does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 a script into sections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Start a line with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%%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begin a new section. Use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Section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in the Editor to run only the section where the cursor is.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%% Inputs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 4;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%% Calculation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b = a + 1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your script into two sections with %%, then run only the second one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6: Arithmetic Operations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6 of 10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arithmetic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MATLAB uses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add,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subtract,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multiply,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divide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^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powers. Each one works on numbers and on variables.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10 + 4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b = 10 - 4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 = 10*4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d = 10/4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e = 10^2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a = 10 + 4 and c = 10*4, then check both in the Workspace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of operations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MATLAB follows the standard order: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parentheses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first,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multiplication and division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 and subtraction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2 + 3*4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(2 + 3)*4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2 + 3*4, then (2 + 3)*4, and compare the two results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 and roots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^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powers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sqrt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square roots. For other roots,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nthroot(x,n)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n-th root of x.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2^3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 = nthroot(27,3)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2^3, then the cube root of 27 with the nthroot function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Element-wise operations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Arrays are MATLAB's basic data type. To apply an operation to every element, put a dot before the operator: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.*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./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.^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 3];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a.^2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1     4     9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v = [2 4 6], then calculate v.*v and v./2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Remainders and rounding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mod(10,3)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remainder 1.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gives the nearest integer,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rounds down,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ceil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rounds up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rounds toward zero: round(2.6) is 3, floor(2.6) is 2, ceil(2.1) is 3, fix(-2.6) is -2.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mod(10,3)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round(2.6)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floor(2.6)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ceil(2.1)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fix(-2.6)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remainder of 17 divided by 5, then compare floor(-2.5) with fix(-2.5)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7: Conditions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7 of 10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Comparisons return a logical value: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true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false. Use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single = assigns, while == compares.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7;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&gt; 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logical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whether x equals 7 with x == 7 and check that the result is logical 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Logical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true when both conditions are true.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||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true when at least one is true.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reverses a value: true becomes false.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7;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&gt; 5 &amp;&amp; x &lt; 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logical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test that is true when x is below 5 or above 10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if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block runs its commands only when the condition is true. Every if needs a matching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disp function displays text.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x &gt;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disp('x is large')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x = 8 and write an if statement that displays x is large when x &gt; 5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if-else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Add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run other commands when the condition is false. Exactly one of the two blocks runs.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x &gt;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disp('large')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disp('small')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with x = 3, then with x = 8, and see which message appears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if-elseif-else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0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MATLAB checks the conditions from the top and runs the first block that is true, then skips the rest.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catches everything left over.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8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x &gt; 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disp('high')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elseif x &gt;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disp('medium')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disp('low')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99200" y="44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539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it with x = 12, then x = 7, then x = 2 and compare the three messages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switch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compares one value against several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values. Use it instead of a long if-elseif chain.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otherwise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runs when no case matches.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switch 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case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disp('one')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otherwise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disp('other')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n = 1, run the switch, then change n to 5 and run it again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with text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switch also works with text. To match one of several values, put them in braces in a single case. Text is matched exactly, so case matters.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switch color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case {'red','pink'}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disp('warm')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otherwise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disp('other')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color = 'pink' and check that the message is warm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LAB Onramp – Lesson 1: Enter Commands">
  <a:themeElements>
    <a:clrScheme name="MATLAB Onramp – Lesson 1: Enter Commands">
      <a:dk1>
        <a:srgbClr val="16202E"/>
      </a:dk1>
      <a:lt1>
        <a:srgbClr val="F4F1EA"/>
      </a:lt1>
      <a:dk2>
        <a:srgbClr val="4E545D"/>
      </a:dk2>
      <a:lt2>
        <a:srgbClr val="DEDCD7"/>
      </a:lt2>
      <a:accent1>
        <a:srgbClr val="B44A12"/>
      </a:accent1>
      <a:accent2>
        <a:srgbClr val="1C5FA8"/>
      </a:accent2>
      <a:accent3>
        <a:srgbClr val="F08A4B"/>
      </a:accent3>
      <a:accent4>
        <a:srgbClr val="B9C7D8"/>
      </a:accent4>
      <a:accent5>
        <a:srgbClr val="9AA0A6"/>
      </a:accent5>
      <a:accent6>
        <a:srgbClr val="6F7479"/>
      </a:accent6>
      <a:hlink>
        <a:srgbClr val="0563C1"/>
      </a:hlink>
      <a:folHlink>
        <a:srgbClr val="954F72"/>
      </a:folHlink>
    </a:clrScheme>
    <a:fontScheme name="MATLAB Onramp – Lesson 1: Enter Command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Onramp – Lesson 1: Enter Commands</dc:title>
  <dc:subject/>
  <dc:creator/>
  <cp:lastModifiedBy/>
  <cp:revision>1</cp:revision>
  <dcterms:created xsi:type="dcterms:W3CDTF">2026-10-07T02:29:04Z</dcterms:created>
  <dcterms:modified xsi:type="dcterms:W3CDTF">2026-10-07T02:29:04Z</dcterms:modified>
</cp:coreProperties>
</file>