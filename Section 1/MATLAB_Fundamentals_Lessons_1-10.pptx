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  <Relationship Id="rId46" Type="http://schemas.openxmlformats.org/officeDocument/2006/relationships/slide" Target="slides/slide40.xml"/>
  <Relationship Id="rId47" Type="http://schemas.openxmlformats.org/officeDocument/2006/relationships/slide" Target="slides/slide41.xml"/>
  <Relationship Id="rId48" Type="http://schemas.openxmlformats.org/officeDocument/2006/relationships/slide" Target="slides/slide42.xml"/>
  <Relationship Id="rId49" Type="http://schemas.openxmlformats.org/officeDocument/2006/relationships/slide" Target="slides/slide43.xml"/>
  <Relationship Id="rId50" Type="http://schemas.openxmlformats.org/officeDocument/2006/relationships/slide" Target="slides/slide44.xml"/>
  <Relationship Id="rId51" Type="http://schemas.openxmlformats.org/officeDocument/2006/relationships/slide" Target="slides/slide45.xml"/>
  <Relationship Id="rId52" Type="http://schemas.openxmlformats.org/officeDocument/2006/relationships/slide" Target="slides/slide46.xml"/>
  <Relationship Id="rId53" Type="http://schemas.openxmlformats.org/officeDocument/2006/relationships/slide" Target="slides/slide47.xml"/>
  <Relationship Id="rId54" Type="http://schemas.openxmlformats.org/officeDocument/2006/relationships/slide" Target="slides/slide48.xml"/>
  <Relationship Id="rId55" Type="http://schemas.openxmlformats.org/officeDocument/2006/relationships/slide" Target="slides/slide49.xml"/>
  <Relationship Id="rId56" Type="http://schemas.openxmlformats.org/officeDocument/2006/relationships/slide" Target="slides/slide50.xml"/>
  <Relationship Id="rId57" Type="http://schemas.openxmlformats.org/officeDocument/2006/relationships/slide" Target="slides/slide51.xml"/>
  <Relationship Id="rId58" Type="http://schemas.openxmlformats.org/officeDocument/2006/relationships/slide" Target="slides/slide52.xml"/>
  <Relationship Id="rId59" Type="http://schemas.openxmlformats.org/officeDocument/2006/relationships/slide" Target="slides/slide53.xml"/>
  <Relationship Id="rId60" Type="http://schemas.openxmlformats.org/officeDocument/2006/relationships/slide" Target="slides/slide54.xml"/>
  <Relationship Id="rId61" Type="http://schemas.openxmlformats.org/officeDocument/2006/relationships/slide" Target="slides/slide55.xml"/>
  <Relationship Id="rId62" Type="http://schemas.openxmlformats.org/officeDocument/2006/relationships/slide" Target="slides/slide56.xml"/>
  <Relationship Id="rId63" Type="http://schemas.openxmlformats.org/officeDocument/2006/relationships/slide" Target="slides/slide57.xml"/>
  <Relationship Id="rId64" Type="http://schemas.openxmlformats.org/officeDocument/2006/relationships/slide" Target="slides/slide58.xml"/>
  <Relationship Id="rId65" Type="http://schemas.openxmlformats.org/officeDocument/2006/relationships/slide" Target="slides/slide59.xml"/>
  <Relationship Id="rId66" Type="http://schemas.openxmlformats.org/officeDocument/2006/relationships/slide" Target="slides/slide60.xml"/>
  <Relationship Id="rId67" Type="http://schemas.openxmlformats.org/officeDocument/2006/relationships/slide" Target="slides/slide61.xml"/>
  <Relationship Id="rId68" Type="http://schemas.openxmlformats.org/officeDocument/2006/relationships/slide" Target="slides/slide62.xml"/>
  <Relationship Id="rId69" Type="http://schemas.openxmlformats.org/officeDocument/2006/relationships/slide" Target="slides/slide63.xml"/>
  <Relationship Id="rId70" Type="http://schemas.openxmlformats.org/officeDocument/2006/relationships/slide" Target="slides/slide64.xml"/>
  <Relationship Id="rId71" Type="http://schemas.openxmlformats.org/officeDocument/2006/relationships/slide" Target="slides/slide65.xml"/>
  <Relationship Id="rId72" Type="http://schemas.openxmlformats.org/officeDocument/2006/relationships/slide" Target="slides/slide66.xml"/>
  <Relationship Id="rId73" Type="http://schemas.openxmlformats.org/officeDocument/2006/relationships/slide" Target="slides/slide67.xml"/>
  <Relationship Id="rId74" Type="http://schemas.openxmlformats.org/officeDocument/2006/relationships/slide" Target="slides/slide68.xml"/>
  <Relationship Id="rId75" Type="http://schemas.openxmlformats.org/officeDocument/2006/relationships/slide" Target="slides/slide69.xml"/>
  <Relationship Id="rId76" Type="http://schemas.openxmlformats.org/officeDocument/2006/relationships/slide" Target="slides/slide70.xml"/>
  <Relationship Id="rId77" Type="http://schemas.openxmlformats.org/officeDocument/2006/relationships/slide" Target="slides/slide7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09"/>
            <a:ext cx="10566400" cy="383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402024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209709"/>
            <a:ext cx="10566400" cy="383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455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430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6500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steps in programming and numeric computing with MATLAB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5131664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551664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START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7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MATLAB?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2"/>
            <a:ext cx="4918456" cy="3006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is a programming and numeric computing environment used by engineers and scientists to analyze data, develop algorithms, and create models and plots.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2"/>
            <a:ext cx="5384800" cy="2981590"/>
          </a:xfrm>
          <a:prstGeom prst="roundRect">
            <a:avLst>
              <a:gd name="adj" fmla="val 340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2"/>
            <a:ext cx="4918456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NAME COMES FROM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9200" y="2951339"/>
            <a:ext cx="4918456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LABoratory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99200" y="3606624"/>
            <a:ext cx="4918456" cy="1305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Cleve Moler created it in the late 1970s so students could use matrix software without writing Fortran. MathWorks was founded in 1984.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START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8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use MATLAB?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9310" y="2209712"/>
            <a:ext cx="10859262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based: arrays are the basic data type, so working on whole data sets takes very little code.</a:t>
            </a:r>
            <a:endParaRPr lang="en-US" sz="2000" dirty="0"/>
          </a:p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Interactive: type a command and see the result immediately.</a:t>
            </a:r>
            <a:endParaRPr lang="en-US" sz="2000" dirty="0"/>
          </a:p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functions for math, data analysis and plotting.</a:t>
            </a:r>
            <a:endParaRPr lang="en-US" sz="2000" dirty="0"/>
          </a:p>
          <a:p>
            <a:pPr algn="l" marL="237490" indent="-23749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Toolboxes add specialized tools for areas such as signal processing, control and machine learning.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2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2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1: Enter Commands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8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1 of 10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command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 command in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Window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after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&gt;&gt;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prompt, then press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MATLAB runs it and shows the result.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3*5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15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multiply 3 and 5 with the command 3*5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a result in a variable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Unless you name an output variable, MATLAB stores the result in a variable called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To keep a result under your own name, write the name,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the expression.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41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7 + 3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 = 3*5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the result of 3*5 to a variable named 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assignment operator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equal sign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not a math equation. MATLAB evaluates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 side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first, then assigns the result to the variable on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So m = m + 1 reads the old m, adds 1, and stores the new value back in 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133600"/>
          </a:xfrm>
          <a:prstGeom prst="roundRect">
            <a:avLst>
              <a:gd name="adj" fmla="val 4762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3 + 4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648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m = m + 1 and watch what happens to m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Workspace panel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5226586" cy="1510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panel, on the right, lists every variable you have created, with its value, size and class.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4845" y="2221002"/>
          <a:ext cx="5074356" cy="1473729"/>
        </p:xfrm>
        <a:graphic>
          <a:graphicData uri="http://schemas.openxmlformats.org/drawingml/2006/table">
            <a:tbl>
              <a:tblPr/>
              <a:tblGrid>
                <a:gridCol w="1268589"/>
                <a:gridCol w="1268589"/>
                <a:gridCol w="1268589"/>
                <a:gridCol w="1268589"/>
              </a:tblGrid>
              <a:tr h="491243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91243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1x1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double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43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1x1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620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double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3999530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variable y with the value of m/2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Suppress output with a semicolon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semicolon, MATLAB displays the result. With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the end it still runs the command, but hides the output. The variable still appears in the Workspace.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41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5 + 1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5 + 1;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k = 8 - 2; then find k in the Workspace panel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 previous commands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arrow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key to bring back earlier commands, then edit and run them. The Command Window must be the active window for this to work.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 = 3*5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↑ edit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 = 3*k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Up to recall m = 3*5, change it to m = 3*k, then press Enter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9"/>
              </a:lnSpc>
              <a:buNone/>
            </a:pPr>
            <a:r>
              <a:rPr lang="en-US" sz="1335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7 + FURTHER PRACTICE</a:t>
            </a:r>
            <a:endParaRPr lang="en-US" sz="1335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54138"/>
            <a:ext cx="10883392" cy="443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17"/>
              </a:lnSpc>
              <a:buNone/>
            </a:pPr>
            <a:r>
              <a:rPr lang="en-US" sz="3015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keep their values</a:t>
            </a:r>
            <a:endParaRPr lang="en-US" sz="3015" dirty="0"/>
          </a:p>
        </p:txBody>
      </p:sp>
      <p:sp>
        <p:nvSpPr>
          <p:cNvPr id="4" name="Text 2"/>
          <p:cNvSpPr/>
          <p:nvPr/>
        </p:nvSpPr>
        <p:spPr>
          <a:xfrm>
            <a:off x="812800" y="2076977"/>
            <a:ext cx="4918456" cy="281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just a variable name to see its current value. y was calculated from the old m, so it is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unchanged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after m changed: MATLAB does not rerun earlier commands. To update y, run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= m/2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again.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076977"/>
            <a:ext cx="5384800" cy="2787738"/>
          </a:xfrm>
          <a:prstGeom prst="roundRect">
            <a:avLst>
              <a:gd name="adj" fmla="val 3645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381777"/>
            <a:ext cx="4918456" cy="388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</a:t>
            </a:r>
            <a:endParaRPr lang="en-US" sz="1913" dirty="0"/>
          </a:p>
        </p:txBody>
      </p:sp>
      <p:sp>
        <p:nvSpPr>
          <p:cNvPr id="7" name="Text 5"/>
          <p:cNvSpPr/>
          <p:nvPr/>
        </p:nvSpPr>
        <p:spPr>
          <a:xfrm>
            <a:off x="6299200" y="2744874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1913" dirty="0"/>
          </a:p>
        </p:txBody>
      </p:sp>
      <p:sp>
        <p:nvSpPr>
          <p:cNvPr id="8" name="Text 6"/>
          <p:cNvSpPr/>
          <p:nvPr/>
        </p:nvSpPr>
        <p:spPr>
          <a:xfrm>
            <a:off x="6299200" y="3107885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8</a:t>
            </a:r>
            <a:endParaRPr lang="en-US" sz="1913" dirty="0"/>
          </a:p>
        </p:txBody>
      </p:sp>
      <p:sp>
        <p:nvSpPr>
          <p:cNvPr id="9" name="Text 7"/>
          <p:cNvSpPr/>
          <p:nvPr/>
        </p:nvSpPr>
        <p:spPr>
          <a:xfrm>
            <a:off x="6299200" y="3470895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 = m/2</a:t>
            </a:r>
            <a:endParaRPr lang="en-US" sz="1913" dirty="0"/>
          </a:p>
        </p:txBody>
      </p:sp>
      <p:sp>
        <p:nvSpPr>
          <p:cNvPr id="10" name="Text 8"/>
          <p:cNvSpPr/>
          <p:nvPr/>
        </p:nvSpPr>
        <p:spPr>
          <a:xfrm>
            <a:off x="6299200" y="3833899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1913" dirty="0"/>
          </a:p>
        </p:txBody>
      </p:sp>
      <p:sp>
        <p:nvSpPr>
          <p:cNvPr id="11" name="Text 9"/>
          <p:cNvSpPr/>
          <p:nvPr/>
        </p:nvSpPr>
        <p:spPr>
          <a:xfrm>
            <a:off x="6299200" y="4196910"/>
            <a:ext cx="4918456" cy="38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9"/>
              </a:lnSpc>
              <a:buNone/>
            </a:pPr>
            <a:r>
              <a:rPr lang="en-US" sz="1913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9</a:t>
            </a:r>
            <a:endParaRPr lang="en-US" sz="1913" dirty="0"/>
          </a:p>
        </p:txBody>
      </p:sp>
      <p:sp>
        <p:nvSpPr>
          <p:cNvPr id="12" name="Text 10"/>
          <p:cNvSpPr/>
          <p:nvPr/>
        </p:nvSpPr>
        <p:spPr>
          <a:xfrm>
            <a:off x="812800" y="5169520"/>
            <a:ext cx="10566400" cy="672483"/>
          </a:xfrm>
          <a:prstGeom prst="roundRect">
            <a:avLst>
              <a:gd name="adj" fmla="val 15108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118"/>
              </a:lnSpc>
              <a:buNone/>
            </a:pPr>
            <a:r>
              <a:rPr lang="en-US" sz="1513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y and press Enter. Then recall y = m/2 with the Up arrow and run it without a semicolon.</a:t>
            </a:r>
            <a:endParaRPr lang="en-US" sz="151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16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2: Name Variables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9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2 of 10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naming rules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name must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a letter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contain only letters (A-Z, a-z), numbers and underscores (_). Variable names are also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sensitive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a and A are two different variables.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-2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-2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variable named A with the value -2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meaningful names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now exist in the Workspace. Single letters work, but a meaningful name such as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meanAa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your code easier to read.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3835313"/>
            <a:ext cx="49184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a =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meanAa = (a + A)/2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A and a to calculate (a + A)/2 and store the result in a variable named meanAa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9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Invalid variable names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an invalid name, MATLAB shows an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message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correction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Use the correction, modify it, or press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delete the suggestion.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4000"/>
          </a:xfrm>
          <a:prstGeom prst="roundRect">
            <a:avLst>
              <a:gd name="adj" fmla="val 66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3sq = 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Error + suggested fix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4038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creating 3sq = 9 and read the error message and the suggested correction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3: Save and Load Variables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3 of 10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variables to a MAT-file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to store the variables in your workspace in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MAT-file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file format specific to MATLAB. To save everything to filename.mat, type save followed by the file name.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778000"/>
          </a:xfrm>
          <a:prstGeom prst="roundRect">
            <a:avLst>
              <a:gd name="adj" fmla="val 5714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save filename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4292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all the variables in the workspace to a file named datafile.mat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the workspace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 switch to a new problem, you may want to tidy up your workspace.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removes all the variables from 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42240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clear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936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the workspace using the clear command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variables from a MAT-file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at the Workspace panel: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removed all the variables. To bring variables back from a MAT-file, use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42240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load filename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936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the variables from the file datafile.mat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a loaded variable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variable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now listed in the Workspace panel. To see the contents of any variable, enter its name in the Command Window.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422400"/>
          </a:xfrm>
          <a:prstGeom prst="roundRect">
            <a:avLst>
              <a:gd name="adj" fmla="val 7143"/>
            </a:avLst>
          </a:prstGeom>
          <a:solidFill>
            <a:srgbClr val="0F1C2E"/>
          </a:solidFill>
          <a:ln/>
        </p:spPr>
        <p:txBody>
          <a:bodyPr wrap="square" lIns="275042" tIns="275042" rIns="131786" bIns="2750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myvar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936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the contents of the variable data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the Command Window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cleans up the workspace.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clc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command cleans up the Command Window.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4000"/>
          </a:xfrm>
          <a:prstGeom prst="roundRect">
            <a:avLst>
              <a:gd name="adj" fmla="val 66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clear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clc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4038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the Command Window using the clc command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and load only some variables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MATLAB clears the workspace, so save your variables in MAT-files first. To load or save only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variables, add their names after the file name.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524000"/>
          </a:xfrm>
          <a:prstGeom prst="roundRect">
            <a:avLst>
              <a:gd name="adj" fmla="val 66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load myData 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save justk 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2800" y="4038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just the variable k from myData.mat, then save k to a new MAT-file named justk.mat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4: Use Built-in Functions and Constants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 · Part 4 of 10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constants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contains built-in constants, such as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π. The Command Window shows only four decimal places, but MATLAB stores the constant with more.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pi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3.1416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create a variable named x with a value of π/2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functions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has a wide variety of built-in functions, such as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(absolute value)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(eigenvalues). Pass inputs to a function inside parentheses, like function notation in math.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sin(-5)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0.9589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calculate the sine of x with the sin function and assign the result to a variable named y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a square root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sqrt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function works like sin: put the input in parentheses. Check the Workspace to see how the result is stored.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94400" y="2209713"/>
            <a:ext cx="5384800" cy="1066800"/>
          </a:xfrm>
          <a:prstGeom prst="roundRect">
            <a:avLst>
              <a:gd name="adj" fmla="val 9524"/>
            </a:avLst>
          </a:prstGeom>
          <a:solidFill>
            <a:srgbClr val="0F1C2E"/>
          </a:solidFill>
          <a:ln/>
        </p:spPr>
        <p:txBody>
          <a:bodyPr wrap="square" lIns="275042" tIns="275042" rIns="131786" bIns="249642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z = sqrt(-9)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3581313"/>
            <a:ext cx="10566400" cy="1046339"/>
          </a:xfrm>
          <a:prstGeom prst="roundRect">
            <a:avLst>
              <a:gd name="adj" fmla="val 9710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calculate the square root of -9 with the sqrt function and assign the result to a variable named z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3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Imaginary numbers and display format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square root of -9 contains the imaginary number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which is also a built-in constant. The Command Window shows only four decimal places;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function controls how many are displayed.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4167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format long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format short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task:</a:t>
            </a: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display more decimal places of x with format long, then switch back with format short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Lobna Abouelmagd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84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</a:t>
            </a:r>
            <a:r>
              <a:rPr lang="en-US" sz="1800" b="1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ENG. Moamen Yasser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5: Scripts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5 of 10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script?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a file of MATLAB commands saved with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.m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extension. When you run it, MATLAB executes the commands in order, so you can reuse them without retyping.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 myscript.m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 5;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 x*2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script holds the same commands you would type in the Command Window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and save a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On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tab click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Script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or type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followed by a name. Write your commands in the Editor, then click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name follows the variable naming rules.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8288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edit myscript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2800" y="43433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new script named myscript.m and save it in the Current Folder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 script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Click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in the Editor, or type the script name, without .m, in the Command Window. The variables the script creates appear in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myscript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myscript from the Command Window and find x and y in the Workspace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comments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line that starts with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a comment. MATLAB ignores it, so use comments to explain what your code does and why.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 convert minutes to seconds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mins = 4;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secs = mins*60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comment above each command in your script describing what it does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 a script into sections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Start a line with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%%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begin a new section. Use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Section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in the Editor to run only the section where the cursor is.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%% Inputs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 4;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%% Calculation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b = a + 1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your script into two sections with %%, then run only the second one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6: Arithmetic Operations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6 of 10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arithmetic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MATLAB uses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add,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subtract,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multiply,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divide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^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powers. Each one works on numbers and on variables.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10 + 4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b = 10 - 4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 = 10*4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d = 10/4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e = 10^2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a = 10 + 4 and c = 10*4, then check both in the Workspace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of operations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MATLAB follows the standard order: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parentheses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first,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multiplication and division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then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 and subtraction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2 + 3*4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(2 + 3)*4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2 + 3*4, then (2 + 3)*4, and compare the two results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 and roots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Use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^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powers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sqrt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square roots. For other roots,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nthroot(x,n)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n-th root of x.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2^3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 = nthroot(27,3)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2^3, then the cube root of 27 with the nthroot function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Element-wise operations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Arrays are MATLAB's basic data type. To apply an operation to every element, put a dot before the operator: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.*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./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.^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 3];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a.^2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1     4     9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v = [2 4 6], then calculate v.*v and v./2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Remainders and rounding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mod(10,3)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remainder 1.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gives the nearest integer,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floor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rounds down,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ceil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rounds up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rounds toward zero: round(2.6) is 3, floor(2.6) is 2, ceil(2.1) is 3, fix(-2.6) is -2.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mod(10,3)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round(2.6)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floor(2.6)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ceil(2.1)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fix(-2.6)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remainder of 17 divided by 5, then compare floor(-2.5) with fix(-2.5)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7: Conditions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7 of 10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Comparisons return a logical value: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true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for false. Use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&gt;=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 single = assigns, while == compares.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7;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&gt; 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logical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whether x equals 7 with x == 7 and check that the result is logical 1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Logical operators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&amp;&amp;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true when both conditions are true.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||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true when at least one is true.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reverses a value: true becomes false.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= 7;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x &gt; 5 &amp;&amp; x &lt; 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logical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test that is true when x is below 5 or above 10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if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block runs its commands only when the condition is true. Every if needs a matching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disp function displays text.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x &gt; 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disp('x is large')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x = 8 and write an if statement that displays x is large when x &gt; 5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if-else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Add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run other commands when the condition is false. Exactly one of the two blocks runs.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x &gt; 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disp('large')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disp('small')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with x = 3, then with x = 8, and see which message appears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if-elseif-else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0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MATLAB checks the conditions from the top and runs the first block that is true, then skips the rest.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catches everything left over.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8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x &gt; 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disp('high')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elseif x &gt; 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disp('medium')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else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disp('low')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99200" y="44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539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it with x = 12, then x = 7, then x = 2 and compare the three messages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switch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compares one value against several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values. Use it instead of a long if-elseif chain.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otherwise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runs when no case matches.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switch 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case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disp('one')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otherwise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disp('other')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n = 1, run the switch, then change n to 5 and run it again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with text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switch also works with text. To match one of several values, put them in braces in a single case. Text is matched exactly, so case matters.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switch color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case {'red','pink'}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disp('warm')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otherwise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disp('other')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color = 'pink' and check that the message is warm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8: Loops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8 of 10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for loop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loop repeats commands a fixed number of times. The variable k takes each value of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1:3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in turn, one pass per value.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k = 1:3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disp(k)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for loop that displays the numbers 1 to 5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Accumulate a result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variable before the loop, then update it on every pass. Here total = total + k adds each k to the running sum, so total ends at 10.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total = 0;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k = 1:4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total = total + k;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total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 the numbers 1 to 10 with a for loop and check that total is 55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step size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The colon operator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start:step:stop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sets the step. A negative step counts down, for example 5:-1:1.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1:2:7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1     3     5     7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10:-2:0, then use it as the range of a for loop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while loop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loop repeats as long as its condition is true. Use it when you do not know the number of passes. Change something inside the loop, or it never ends. Press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to stop it. Here x ends at 64.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 = 1;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while x &lt; 50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x = x*2;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n = 5 and subtract 1 in a while loop until n reaches 0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a loop early with 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leaves the loop at once.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skips the rest of the current pass and moves on to the next 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for k = 1:10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if k &gt; 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   break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disp(k)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a for loop over 1:10 as soon as k is greater than 3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9: Functions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9 of 10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function?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function takes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does a calculation and returns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You already call built-in functions such as sqrt and sin. You can also write your own.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 = sqrt(25)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y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abs(-4) and max([4 9 2]) and name the input and output of each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function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function file starts with the keyword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the output, =, the function name and the inputs in parentheses. Save it with the same name as the function.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function y = timesTwo(x)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y = 2*x;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file named timesTwo.m that contains this function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your function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timesTwo.m is in the Current Folder, call it like any built-in function: its name, then the input in parentheses.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timesTwo(4)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timesTwo with the input 7 and store the result in a variable named r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inputs and outputs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188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Separate the inputs with commas. For more than one output, list the output names in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square brackets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Each output must be assigned inside the function.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86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function [s, p] = sumProd(a, b)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s = a + b;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p = a*b;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437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sumProd.m with two inputs, a and b, and two outputs, s and p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it with several outputs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 the outputs in square brackets, in the same order. The names you choose outside the function can differ from the names inside 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[s, p] = sumProd(3, 4)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 =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sumProd(5, 6) and save the results in variables named total and prod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stay inside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function has its own workspace. Variables created inside it, such as y in timesTwo, disappear when it finishes and never reach your Workspace.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timesTwo(4);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Unrecognized function 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variable 'y'.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timesTwo(4); and check that y is not in the Workspace panel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13322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08A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ONRAMP - SECTION ONE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51745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E8EE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MATLAB Fundamentals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43945"/>
            <a:ext cx="1088339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10: Arrays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24623"/>
            <a:ext cx="10883392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7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 · Part 10 of 10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1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row vector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An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stores many values in one variable. Put the values inside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square brackets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separated by spaces or commas, to make a row vector.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 2 3 4]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1     2     3     4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row vector named v with the values 5, 10, 15 and 20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2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matrix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 matrix has rows and columns. Inside the brackets, a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semicolon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ends a row. Here the semicolon separates rows, it does not hide output.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2; 3 4]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1     2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3     4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2-by-3 matrix named B with the rows 1 2 3 and 4 5 6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3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Evenly spaced values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linspace(a,b,n)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creates n evenly spaced values from a to b, including both ends. The colon operator a:step:b gives you control of the step instead.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19812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linspace(0,10,3)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0     5    10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12800" y="44957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5 evenly spaced values from 0 to 1 with linspace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4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into a vector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Use parentheses to read one element. MATLAB indexing starts at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, so v(1) is the first element. The word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means the last element.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[10 20 30];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v(2)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v(end)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first and the last element of v = [10 20 30]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5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 into a matrix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For a matrix, give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first and then the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A(2,1) is row 2, column 1. A colon means all: A(1,:) is the whole first row.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956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2; 3 4];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A(2,1)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99200" y="43433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A(1,:)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2800" y="54101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the element in row 1, column 2 of A, then the whole second column with A(:,2)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and add elements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to an index to change that element. Assigning past the end makes the array longer, for example v(4) = 40 adds a fourth element.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[10 20 30];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v(2) = 99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v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10    99    30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last element of v to 0, then add a fourth element with the value 40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7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and length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number of rows and columns.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returns the largest dimension,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numel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counts all elements.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4384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5145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A = [1 2; 3 4];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99200" y="29717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size(A)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99200" y="34289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99200" y="3886113"/>
            <a:ext cx="491845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2     2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800" y="49529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size of B and the number of elements in B with numel</a:t>
            </a:r>
            <a:endParaRPr lang="en-US" sz="1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8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on arrays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90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Many built-in functions work on a whole array. For v = [4 9 2 4]: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19,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9,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2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4.75.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the middle value after sorting (4) and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is the most frequent value (4).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88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[4 9 2 4];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mean(v)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4.7500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mode(v)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99200" y="44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539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 the mean, median and mode of v = [4 9 2 4]</a:t>
            </a:r>
            <a:endParaRPr lang="en-US" sz="1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4A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FURTHER PRACTICE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02026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Transpose with an apostrophe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209713"/>
            <a:ext cx="4918456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An apostrophe </a:t>
            </a:r>
            <a:r>
              <a:rPr lang="en-US" sz="20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</a:t>
            </a:r>
            <a:r>
              <a:rPr lang="en-US" sz="20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after an array flips rows and columns. A row vector becomes a column vector, and the other way round.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94400" y="2209713"/>
            <a:ext cx="5384800" cy="2540000"/>
          </a:xfrm>
          <a:prstGeom prst="roundRect">
            <a:avLst>
              <a:gd name="adj" fmla="val 5128"/>
            </a:avLst>
          </a:prstGeom>
          <a:solidFill>
            <a:srgbClr val="0F1C2E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24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 = [1 2 3];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99200" y="279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&gt;&gt; v'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99200" y="313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ans =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99200" y="347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9200" y="381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99200" y="4159713"/>
            <a:ext cx="491845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E8EEF5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 xml:space="preserve">    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5054513"/>
            <a:ext cx="10566400" cy="726369"/>
          </a:xfrm>
          <a:prstGeom prst="roundRect">
            <a:avLst>
              <a:gd name="adj" fmla="val 13987"/>
            </a:avLst>
          </a:prstGeom>
          <a:solidFill>
            <a:srgbClr val="1C5FA8"/>
          </a:solidFill>
          <a:ln/>
        </p:spPr>
        <p:txBody>
          <a:bodyPr wrap="square" lIns="275042" tIns="173442" rIns="0" bIns="1480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the row vector v into a column vector and store it in a variable named 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LAB Onramp – Lesson 1: Enter Commands">
  <a:themeElements>
    <a:clrScheme name="MATLAB Onramp – Lesson 1: Enter Commands">
      <a:dk1>
        <a:srgbClr val="16202E"/>
      </a:dk1>
      <a:lt1>
        <a:srgbClr val="F4F1EA"/>
      </a:lt1>
      <a:dk2>
        <a:srgbClr val="4E545D"/>
      </a:dk2>
      <a:lt2>
        <a:srgbClr val="DEDCD7"/>
      </a:lt2>
      <a:accent1>
        <a:srgbClr val="B44A12"/>
      </a:accent1>
      <a:accent2>
        <a:srgbClr val="1C5FA8"/>
      </a:accent2>
      <a:accent3>
        <a:srgbClr val="F08A4B"/>
      </a:accent3>
      <a:accent4>
        <a:srgbClr val="B9C7D8"/>
      </a:accent4>
      <a:accent5>
        <a:srgbClr val="9AA0A6"/>
      </a:accent5>
      <a:accent6>
        <a:srgbClr val="6F7479"/>
      </a:accent6>
      <a:hlink>
        <a:srgbClr val="0563C1"/>
      </a:hlink>
      <a:folHlink>
        <a:srgbClr val="954F72"/>
      </a:folHlink>
    </a:clrScheme>
    <a:fontScheme name="MATLAB Onramp – Lesson 1: Enter Command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 Onramp – Lesson 1: Enter Commands</dc:title>
  <dc:subject/>
  <dc:creator/>
  <cp:lastModifiedBy/>
  <cp:revision>1</cp:revision>
  <dcterms:created xsi:type="dcterms:W3CDTF">2026-10-07T02:29:04Z</dcterms:created>
  <dcterms:modified xsi:type="dcterms:W3CDTF">2026-10-07T02:29:04Z</dcterms:modified>
</cp:coreProperties>
</file>