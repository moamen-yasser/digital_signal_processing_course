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turn the math definitions of basic digital signals into MATLAB code: the unit impulse, the unit step, exponential and sinusoidal sequences, and shifted versions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impulse is the simplest digital signal: one sample equal to 1 at n = 0, zero everywhere else. On the plot, the dashed line marks the value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handout also prints each value inside the loop with fprintf('n(%i) = %i, s_im(%i) = %i\n', i, n(i), i, s_im(i)); — useful for checking the values in the Command Window. stem is used instead of plot because a digital signal only exists at whole-number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Multiplying any sequence by u(n) keeps its values for n ≥ 0 and zeroes everything before n = 0. We use exactly that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typo in the handout: title(' Unit Step Function''); ends with two quotes and MATLAB reports an error. The fixed line is shown in the code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values from Table 3.2: 10.0000, 7.5000, 5.6250, 4.2188, 3.1641, 2.3730, 1.7798, 1.3348. Because 0.75 is less than 1, the sequence decays.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dot, ^ and * mean matrix power and matrix multiplication, which give an error here. The handout keeps the title 'Unit Step Function' and ylabel 'u(n)'; here they are relabelled to describe the signal actually plotted.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values from Table 3.1: 10.0000, 9.2388, 7.0711, 3.8628, 0.0000, −3.8628, −7.0711, −9.2388. 0.125π = 2π/16, so one full cosine period takes 16 samples; we only see the first half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this code with Example 1 side by side: the u(n) loop and the plotting lines are identical; only x_n changes. That is the pattern for building any signal times u(n).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δ(n − 2) is 1 when n − 2 = 0, that is at n = 2. So the only change from the original impulse code is the condition n(i) ==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term is an impulse moved to a new position and multiplied by a weight: δ(n+1) puts 1 at n = −1 (left shift), 0.5δ(n−1) puts 0.5 at n = 1, and 2δ(n−2) puts 2 at n = 2. The handout writes the conditions as separate if blocks in one version and as elseif in the other; both give the same result. Also drop the semicolon after the conditions (if n(i) == -1;) — MATLAB accepts it but it is not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u(n − 2) is 1 when n − 2 ≥ 0, that is n ≥ 2. Same code as u(n) with the condition changed from 0 to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02027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209712"/>
            <a:ext cx="10566400" cy="383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02027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209712"/>
            <a:ext cx="10566400" cy="383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455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- SECTION FOUR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430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Signals in MATLAB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6500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Generating and plotting discrete-time sequences with 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5207000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Lobna Abouelmagd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5588000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ENG. Moamen Yasser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WE START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7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we’ll build today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12887"/>
            <a:ext cx="3380317" cy="2392274"/>
          </a:xfrm>
          <a:prstGeom prst="roundRect">
            <a:avLst>
              <a:gd name="adj" fmla="val 4114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244" y="2520156"/>
            <a:ext cx="284875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3244" y="2956983"/>
            <a:ext cx="2848751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sequences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3244" y="3444611"/>
            <a:ext cx="2848751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unit impulse δ(n) and the unit step u(n)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5842" y="2212887"/>
            <a:ext cx="3380317" cy="2392274"/>
          </a:xfrm>
          <a:prstGeom prst="roundRect">
            <a:avLst>
              <a:gd name="adj" fmla="val 4114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3111" y="2520156"/>
            <a:ext cx="284875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13111" y="2956983"/>
            <a:ext cx="2848751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u(n)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111" y="3444611"/>
            <a:ext cx="2848751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exponential and a sinusoidal sequence, switched on by the unit step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95708" y="2212887"/>
            <a:ext cx="3380317" cy="2392274"/>
          </a:xfrm>
          <a:prstGeom prst="roundRect">
            <a:avLst>
              <a:gd name="adj" fmla="val 4114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978" y="2520156"/>
            <a:ext cx="284875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978" y="2956983"/>
            <a:ext cx="2848751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Shifted sequences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02978" y="3444611"/>
            <a:ext cx="2848751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δ(n − 2), a sum of shifted impulses, and u(n − 2)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4913137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Tools:</a:t>
            </a: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ranges with a:b, zeros, for loops, if / elseif, element-wise .^ and .*, and stem plots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16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- SECTION FOUR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2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Signals in MATLAB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2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1: Basic sequences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8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δ(n) and u(n) · Part 1 of 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· DEFINITION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8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impulse δ(n)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2"/>
            <a:ext cx="559866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digital unit-impulse function is a single sample of height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= 0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Every other sample is 0.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3530512"/>
            <a:ext cx="5435600" cy="1950597"/>
          </a:xfrm>
          <a:prstGeom prst="roundRect">
            <a:avLst>
              <a:gd name="adj" fmla="val 5209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1117600" y="3835312"/>
            <a:ext cx="497078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7600" y="4221339"/>
            <a:ext cx="4970780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δ(n) = 1   when n = 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17600" y="4749623"/>
            <a:ext cx="4970780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δ(n) = 0   when n ≠ 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657975" y="2212887"/>
            <a:ext cx="4718050" cy="3311966"/>
          </a:xfrm>
          <a:prstGeom prst="roundRect">
            <a:avLst>
              <a:gd name="adj" fmla="val 2972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pic>
        <p:nvPicPr>
          <p:cNvPr id="10" name="Image 0" descr="Stem plot of the unit impulse for n from -2 to 4: value 1 at n = 0 and 0 everywhere el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63645" y="2418556"/>
            <a:ext cx="4318000" cy="203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38245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55077" y="4526756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71996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8829" y="4526756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5749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22580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39413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38245" y="4816298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55077" y="4816298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071996" y="4816298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8829" y="4816298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305749" y="4816298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922580" y="4816298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539413" y="4816298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63645" y="5105842"/>
            <a:ext cx="443591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Rows: n, then δ(n)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· CODE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Drawing δ(n) with a for loop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09713"/>
            <a:ext cx="5461000" cy="3249348"/>
          </a:xfrm>
          <a:prstGeom prst="roundRect">
            <a:avLst>
              <a:gd name="adj" fmla="val 3127"/>
            </a:avLst>
          </a:prstGeom>
          <a:solidFill>
            <a:srgbClr val="0F1C2E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514513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n = -2:4;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7600" y="2754489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s_im = zeros(size(n));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2994465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i = 1:length(n)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7600" y="3234444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n(i) == 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7600" y="3474420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s_im(i) = 1;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7600" y="3714397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7600" y="3954376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7600" y="4194352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stem(n, s_im);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7600" y="4434328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title(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'Unit Impulse Function'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7600" y="4674307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xlabel(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'n'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 ylabel(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'\delta(n)'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7600" y="4914283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grid on;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80200" y="2209713"/>
            <a:ext cx="4839970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24915" y="2697339"/>
            <a:ext cx="4787635" cy="1447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285" indent="-209285">
              <a:lnSpc>
                <a:spcPts val="2240"/>
              </a:lnSpc>
              <a:buSzPct val="100000"/>
              <a:buFontTx/>
              <a:buAutoNum type="arabicPeriod" startAt="1"/>
            </a:pPr>
            <a:r>
              <a:rPr lang="en-US" sz="1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= -2:4</a:t>
            </a:r>
            <a:r>
              <a: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makes the sample indices −2 to 4.</a:t>
            </a:r>
            <a:endParaRPr lang="en-US" sz="1600" dirty="0"/>
          </a:p>
          <a:p>
            <a:pPr algn="l" marL="209285" indent="-209285">
              <a:lnSpc>
                <a:spcPts val="2240"/>
              </a:lnSpc>
              <a:buSzPct val="100000"/>
              <a:buFontTx/>
              <a:buAutoNum type="arabicPeriod" startAt="1"/>
            </a:pPr>
            <a:r>
              <a:rPr lang="en-US" sz="1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zeros(size(n))</a:t>
            </a:r>
            <a:r>
              <a: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starts every sample at 0.</a:t>
            </a:r>
            <a:endParaRPr lang="en-US" sz="1600" dirty="0"/>
          </a:p>
          <a:p>
            <a:pPr algn="l" marL="209285" indent="-209285">
              <a:lnSpc>
                <a:spcPts val="224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 sets the sample where </a:t>
            </a:r>
            <a:r>
              <a:rPr lang="en-US" sz="1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== 0</a:t>
            </a:r>
            <a:r>
              <a: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1.</a:t>
            </a:r>
            <a:endParaRPr lang="en-US" sz="1600" dirty="0"/>
          </a:p>
          <a:p>
            <a:pPr algn="l" marL="209285" indent="-209285">
              <a:lnSpc>
                <a:spcPts val="2240"/>
              </a:lnSpc>
              <a:buSzPct val="100000"/>
              <a:buFontTx/>
              <a:buAutoNum type="arabicPeriod" startAt="1"/>
            </a:pPr>
            <a:r>
              <a:rPr lang="en-US" sz="1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stem</a:t>
            </a:r>
            <a:r>
              <a: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draws each sample as a line ending in a circle.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· DEFINITION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step u(n)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559866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digital unit-step function is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before n = 0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from n = 0 onward — it “switches on” a signal.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3530513"/>
            <a:ext cx="5435600" cy="1950597"/>
          </a:xfrm>
          <a:prstGeom prst="roundRect">
            <a:avLst>
              <a:gd name="adj" fmla="val 5209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1117600" y="3835313"/>
            <a:ext cx="497078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7600" y="4221339"/>
            <a:ext cx="4970780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u(n) = 1   when n ≥ 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17600" y="4749623"/>
            <a:ext cx="4970780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u(n) = 0   when n &lt; 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657975" y="2212888"/>
            <a:ext cx="4718050" cy="3311966"/>
          </a:xfrm>
          <a:prstGeom prst="roundRect">
            <a:avLst>
              <a:gd name="adj" fmla="val 2972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pic>
        <p:nvPicPr>
          <p:cNvPr id="10" name="Image 0" descr="Stem plot of the unit step for n from -2 to 4: 0 at n = -2 and -1, 1 from n = 0 to 4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63645" y="2418556"/>
            <a:ext cx="4318000" cy="203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38245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55077" y="4526756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71996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8829" y="4526756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05749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22580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39413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38245" y="4816298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55077" y="4816298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071996" y="4816298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8829" y="4816298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305749" y="4816298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922580" y="4816298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539413" y="4816298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63645" y="5105840"/>
            <a:ext cx="443591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Rows: n, then u(n)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· CODE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Drawing u(n) with a for loop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09713"/>
            <a:ext cx="5461000" cy="3249348"/>
          </a:xfrm>
          <a:prstGeom prst="roundRect">
            <a:avLst>
              <a:gd name="adj" fmla="val 3127"/>
            </a:avLst>
          </a:prstGeom>
          <a:solidFill>
            <a:srgbClr val="0F1C2E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514513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n = -2:4;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7600" y="2754489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u_shifted = zeros(size(n));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2994465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i = 1:length(n)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7600" y="3234444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n(i) &gt;= 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7600" y="3474420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u_shifted(i) = 1;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7600" y="3714397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7600" y="3954376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7600" y="4194352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stem(n, u_shifted);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7600" y="4434328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title(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'Unit Step Function'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7600" y="4674307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xlabel(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'n'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 ylabel(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'u(n)'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7600" y="4914283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grid on;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80200" y="2209713"/>
            <a:ext cx="4839970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changed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80200" y="2697339"/>
            <a:ext cx="483997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condition. The impulse tests </a:t>
            </a:r>
            <a:r>
              <a:rPr lang="en-US" sz="1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n(i) == 0</a:t>
            </a:r>
            <a:r>
              <a: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(one sample); the step tests </a:t>
            </a:r>
            <a:r>
              <a:rPr lang="en-US" sz="1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n(i) &gt;= 0</a:t>
            </a:r>
            <a:r>
              <a: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(every sample from 0 on).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80200" y="3703020"/>
            <a:ext cx="4699000" cy="975254"/>
          </a:xfrm>
          <a:prstGeom prst="roundRect">
            <a:avLst>
              <a:gd name="adj" fmla="val 10418"/>
            </a:avLst>
          </a:prstGeom>
          <a:solidFill>
            <a:srgbClr val="1C5FA8"/>
          </a:solidFill>
          <a:ln/>
        </p:spPr>
        <p:txBody>
          <a:bodyPr wrap="square" lIns="224242" tIns="173442" rIns="98512" bIns="1480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task:</a:t>
            </a:r>
            <a:r>
              <a:rPr lang="en-US" sz="16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 this code, then change the range to n = -5:5 and plot again.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 the handout’s title line has an extra quote at the end — write title('Unit Step Function');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16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- SECTION FOUR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2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Signals in MATLAB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2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2: Sequences built on u(n)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9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Exponential and sinusoidal examples · Part 2 of 3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 · EXAMPLE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Exponential sequence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09713"/>
            <a:ext cx="5435600" cy="1808339"/>
          </a:xfrm>
          <a:prstGeom prst="roundRect">
            <a:avLst>
              <a:gd name="adj" fmla="val 5618"/>
            </a:avLst>
          </a:prstGeom>
          <a:solidFill>
            <a:srgbClr val="0F1C2E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514513"/>
            <a:ext cx="497078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SIGNAL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7600" y="2900542"/>
            <a:ext cx="4970780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x(n) = A (0.75)ⁿ u(n)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17600" y="3428826"/>
            <a:ext cx="497078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 = 10, for the first eight samples n = 0 … 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4272049"/>
            <a:ext cx="559866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sample is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 ×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one before it, so the signal starts at 10 and decays toward 0.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57975" y="2212888"/>
            <a:ext cx="4718050" cy="3311966"/>
          </a:xfrm>
          <a:prstGeom prst="roundRect">
            <a:avLst>
              <a:gd name="adj" fmla="val 2972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pic>
        <p:nvPicPr>
          <p:cNvPr id="10" name="Image 0" descr="Stem plot of 10 times 0.75 to the n for n from 0 to 7, decaying from 10 to about 1.33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63645" y="2418556"/>
            <a:ext cx="4318000" cy="203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3824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7799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1774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45749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99724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53699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7674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61649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3824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7799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7.50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1774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5.63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45749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4.22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99724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3.16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53699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2.37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07674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1.78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61649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1.33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63645" y="5105840"/>
            <a:ext cx="443591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Rows: n, then x(n) (Table 3.2, rounded)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 · EXAMPLE 1 CODE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Computing x(n) = 10(0.75)ⁿu(n)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09713"/>
            <a:ext cx="5461000" cy="3489325"/>
          </a:xfrm>
          <a:prstGeom prst="roundRect">
            <a:avLst>
              <a:gd name="adj" fmla="val 2912"/>
            </a:avLst>
          </a:prstGeom>
          <a:solidFill>
            <a:srgbClr val="0F1C2E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514513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n = 0:7;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7600" y="2754492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 = 10;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2994465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u_n = zeros(size(n));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7600" y="3234444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i = 1:length(n)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7600" y="3474424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n(i) &gt;= 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7600" y="3714397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u_n(i) = 1;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7600" y="3954376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7600" y="4194355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7600" y="4434328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x_n = A * (0.75).^n .* u_n;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7600" y="4674307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stem(n, x_n); grid on;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7600" y="4914286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title(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'Exponential Sequence'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7600" y="5154259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xlabel(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'n'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 ylabel(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'x(n)'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80200" y="2209713"/>
            <a:ext cx="4839970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operators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683375" y="2700517"/>
            <a:ext cx="4692650" cy="1066624"/>
          </a:xfrm>
          <a:prstGeom prst="roundRect">
            <a:avLst>
              <a:gd name="adj" fmla="val 9228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9045" y="2906185"/>
            <a:ext cx="44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5F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.^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89045" y="3312585"/>
            <a:ext cx="4409750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Raises 0.75 to each value of n, element by element.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83375" y="3925888"/>
            <a:ext cx="4692650" cy="1315508"/>
          </a:xfrm>
          <a:prstGeom prst="roundRect">
            <a:avLst>
              <a:gd name="adj" fmla="val 7482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9045" y="4131556"/>
            <a:ext cx="44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5F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.*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89045" y="4537956"/>
            <a:ext cx="4409750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Multiplies by u(n) sample by sample, keeping only n ≥ 0.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 · EXAMPLE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Sinusoidal sequence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09713"/>
            <a:ext cx="5435600" cy="1808339"/>
          </a:xfrm>
          <a:prstGeom prst="roundRect">
            <a:avLst>
              <a:gd name="adj" fmla="val 5618"/>
            </a:avLst>
          </a:prstGeom>
          <a:solidFill>
            <a:srgbClr val="0F1C2E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514513"/>
            <a:ext cx="497078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SIGNAL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7600" y="2900542"/>
            <a:ext cx="4970780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x(n) = A cos(0.125πn) u(n)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17600" y="3428826"/>
            <a:ext cx="497078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 = 10, for the first eight samples n = 0 … 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4272049"/>
            <a:ext cx="559866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samples follow a cosine: from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down through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at n = 4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negative values.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657975" y="2212888"/>
            <a:ext cx="4718050" cy="3525308"/>
          </a:xfrm>
          <a:prstGeom prst="roundRect">
            <a:avLst>
              <a:gd name="adj" fmla="val 2792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pic>
        <p:nvPicPr>
          <p:cNvPr id="10" name="Image 0" descr="Stem plot of 10 cos(0.125 pi n) for n from 0 to 7, falling from 10 through 0 at n = 4 to about -9.24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63645" y="2418556"/>
            <a:ext cx="4318000" cy="203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3824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7799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1774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45749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99724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53699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7674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616495" y="4526756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3824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7799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9.24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1774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7.07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45749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3.86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99724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53699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−3.86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07674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−7.07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616495" y="4816301"/>
            <a:ext cx="59055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−9.24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63645" y="5105840"/>
            <a:ext cx="443591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Rows: n, then x(n) (Table 3.1, rounded) · dashed lines at +10 and −10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 · EXAMPLE 2 CODE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Computing x(n) = 10cos(0.125πn)u(n)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09713"/>
            <a:ext cx="5461000" cy="3489325"/>
          </a:xfrm>
          <a:prstGeom prst="roundRect">
            <a:avLst>
              <a:gd name="adj" fmla="val 2912"/>
            </a:avLst>
          </a:prstGeom>
          <a:solidFill>
            <a:srgbClr val="0F1C2E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514513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n = 0:7;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7600" y="2754492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 = 10;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2994465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u_n = zeros(size(n));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7600" y="3234444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i = 1:length(n)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7600" y="3474424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n(i) &gt;= 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7600" y="3714397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u_n(i) = 1;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7600" y="3954376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7600" y="4194355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7600" y="4434328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x_n = A * cos(0.125*pi*n) .* u_n;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7600" y="4674307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stem(n, x_n); grid on;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7600" y="4914286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title(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'Sinusoidal Sequence'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7600" y="5154259"/>
            <a:ext cx="4996942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xlabel(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'n'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 ylabel(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'x(n)'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80200" y="2209713"/>
            <a:ext cx="4839970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recipe, new signal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80200" y="2697342"/>
            <a:ext cx="4839970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line that computes </a:t>
            </a:r>
            <a:r>
              <a:rPr lang="en-US" sz="1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x_n</a:t>
            </a:r>
            <a:r>
              <a: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changes from Example 1.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31508" y="3418594"/>
            <a:ext cx="4781042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2692" indent="-202692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r>
              <a: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MATLAB’s built-in π.</a:t>
            </a:r>
            <a:endParaRPr lang="en-US" sz="1600" dirty="0"/>
          </a:p>
          <a:p>
            <a:pPr algn="l" marL="202692" indent="-202692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</a:t>
            </a:r>
            <a:r>
              <a: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works on the whole vector n at once.</a:t>
            </a:r>
            <a:endParaRPr lang="en-US" sz="1600" dirty="0"/>
          </a:p>
          <a:p>
            <a:pPr algn="l" marL="202692" indent="-202692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.* u_n</a:t>
            </a:r>
            <a:r>
              <a: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still switches the signal on at n = 0.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16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- SECTION FOUR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Signals in MATLAB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3: Shifted sequences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9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δ(n − 2), sums of impulses, u(n − 2) · Part 3 of 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 · SHIFTED IMPULSE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δ(n − 2): shift to the right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09713"/>
            <a:ext cx="5435600" cy="3009371"/>
          </a:xfrm>
          <a:prstGeom prst="roundRect">
            <a:avLst>
              <a:gd name="adj" fmla="val 3376"/>
            </a:avLst>
          </a:prstGeom>
          <a:solidFill>
            <a:srgbClr val="0F1C2E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514513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n = -2:4;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7600" y="2754492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s_im = zeros(size(n));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2994465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i = 1:length(n)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7600" y="3234444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n(i) ==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7600" y="3474424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s_im(i) = 1;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7600" y="3714397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7600" y="3954376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7600" y="4194355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stem(n, s_im);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7600" y="4434328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title(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'The shifted unit-impulse'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7600" y="4674307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xlabel(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'n'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 ylabel(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'\delta(n-2)'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57975" y="2212888"/>
            <a:ext cx="4718050" cy="3347508"/>
          </a:xfrm>
          <a:prstGeom prst="roundRect">
            <a:avLst>
              <a:gd name="adj" fmla="val 2940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pic>
        <p:nvPicPr>
          <p:cNvPr id="16" name="Image 0" descr="Stem plot of the impulse shifted to n = 2: value 1 at n = 2, 0 elsewhere for n from -2 to 4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63645" y="2418556"/>
            <a:ext cx="4318000" cy="2032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38245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455077" y="4526756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071996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8829" y="4526756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5749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922580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539413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838245" y="4816301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455077" y="4816301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071996" y="4816301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688829" y="4816301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305749" y="4816301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922580" y="4816301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539413" y="4816301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63645" y="5105840"/>
            <a:ext cx="443591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spike moves from n = 0 to </a:t>
            </a: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= 2</a:t>
            </a:r>
            <a:r>
              <a:rPr lang="en-US" sz="14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test </a:t>
            </a: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n(i) == 2</a:t>
            </a:r>
            <a:r>
              <a:rPr lang="en-US" sz="14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 · SUM OF IMPULSES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Combining shifted impulses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09713"/>
            <a:ext cx="5435600" cy="3729302"/>
          </a:xfrm>
          <a:prstGeom prst="roundRect">
            <a:avLst>
              <a:gd name="adj" fmla="val 2724"/>
            </a:avLst>
          </a:prstGeom>
          <a:solidFill>
            <a:srgbClr val="0F1C2E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514513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n = -2:4;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7600" y="2754492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s_im = zeros(size(n));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2994465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i = 1:length(n)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7600" y="3234444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n(i) == -1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7600" y="3474424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s_im(i) = 1;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7600" y="3714397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elseif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n(i) ==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7600" y="3954376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s_im(i) = 0.5;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7600" y="4194355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elseif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n(i) ==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7600" y="4434328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s_im(i) = 2;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7600" y="4674307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7600" y="4914286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7600" y="5154259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stem(n, s_im); grid on;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7600" y="5394238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title(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'Shifted Unit impuls'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57975" y="2212888"/>
            <a:ext cx="4718050" cy="3637051"/>
          </a:xfrm>
          <a:prstGeom prst="roundRect">
            <a:avLst>
              <a:gd name="adj" fmla="val 2706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3645" y="2418556"/>
            <a:ext cx="443591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x(n) = δ(n+1) + 0.5δ(n−1) + 2δ(n−2)</a:t>
            </a:r>
            <a:endParaRPr lang="en-US" sz="1400" dirty="0"/>
          </a:p>
        </p:txBody>
      </p:sp>
      <p:pic>
        <p:nvPicPr>
          <p:cNvPr id="20" name="Image 0" descr="Stem plot of the sum of impulses: 1 at n = -1, 0.5 at n = 1, 2 at n = 2, 0 elsewhere for n from -2 to 4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63645" y="2743640"/>
            <a:ext cx="4318000" cy="2032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838245" y="4851840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−2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455077" y="4851840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71996" y="4851840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88829" y="4851840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305749" y="4851840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922580" y="4851840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539413" y="4851840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838245" y="5141385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455077" y="5141385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071996" y="5141385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688829" y="5141385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0.5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305749" y="5141385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922580" y="5141385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539413" y="5141385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863645" y="5430924"/>
            <a:ext cx="443591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term places one weighted spike · dashed line = 2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 · SHIFTED STEP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u(n − 2): the step starts later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09713"/>
            <a:ext cx="5435600" cy="3249348"/>
          </a:xfrm>
          <a:prstGeom prst="roundRect">
            <a:avLst>
              <a:gd name="adj" fmla="val 3127"/>
            </a:avLst>
          </a:prstGeom>
          <a:solidFill>
            <a:srgbClr val="0F1C2E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514513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n = -2:4;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7600" y="2754486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u_n = zeros(size(n));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2994471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i = 1:length(n)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7600" y="3234444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n(i) &gt;=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7600" y="3474417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    u_n(i) = 1;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7600" y="3714403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</a:t>
            </a: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7600" y="3954376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08A4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7600" y="4194349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stem(n, u_n);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7600" y="4434334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title(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'Unit step Function'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7600" y="4674307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xlabel(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'n'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 ylabel(</a:t>
            </a:r>
            <a:r>
              <a:rPr lang="en-US" sz="1400" dirty="0">
                <a:solidFill>
                  <a:srgbClr val="E6C07B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'u(n-2)'</a:t>
            </a: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);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7600" y="4914280"/>
            <a:ext cx="497078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grid on;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57975" y="2212888"/>
            <a:ext cx="4718050" cy="3347508"/>
          </a:xfrm>
          <a:prstGeom prst="roundRect">
            <a:avLst>
              <a:gd name="adj" fmla="val 2940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pic>
        <p:nvPicPr>
          <p:cNvPr id="17" name="Image 0" descr="Stem plot of the step shifted to n = 2: 0 for n from -2 to 1, 1 for n from 2 to 4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63645" y="2418556"/>
            <a:ext cx="4318000" cy="2032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38245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55077" y="4526756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071996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8829" y="4526756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305749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922580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539413" y="4526756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38245" y="4816301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455077" y="4816301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071996" y="4816301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688829" y="4816301"/>
            <a:ext cx="6677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305749" y="4816301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922580" y="4816301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539413" y="4816301"/>
            <a:ext cx="66763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5F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63645" y="5105846"/>
            <a:ext cx="443591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step now switches on at </a:t>
            </a: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= 2</a:t>
            </a:r>
            <a:r>
              <a:rPr lang="en-US" sz="14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test </a:t>
            </a: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n(i) &gt;= 2</a:t>
            </a:r>
            <a:r>
              <a:rPr lang="en-US" sz="14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5F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SHIFT RULE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Minus moves right, plus moves left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09713"/>
            <a:ext cx="5181600" cy="2021681"/>
          </a:xfrm>
          <a:prstGeom prst="roundRect">
            <a:avLst>
              <a:gd name="adj" fmla="val 5026"/>
            </a:avLst>
          </a:prstGeom>
          <a:solidFill>
            <a:srgbClr val="0F1C2E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514513"/>
            <a:ext cx="470916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x(n − k) · RIGHT BY 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7600" y="2951336"/>
            <a:ext cx="4709160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δ(n − 2)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17600" y="3606626"/>
            <a:ext cx="4709160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Spike lands at n = 2. In code: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n(i) == 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97600" y="2209713"/>
            <a:ext cx="5181600" cy="2021681"/>
          </a:xfrm>
          <a:prstGeom prst="roundRect">
            <a:avLst>
              <a:gd name="adj" fmla="val 5026"/>
            </a:avLst>
          </a:prstGeom>
          <a:solidFill>
            <a:srgbClr val="0F1C2E"/>
          </a:solidFill>
          <a:ln/>
        </p:spPr>
      </p:sp>
      <p:sp>
        <p:nvSpPr>
          <p:cNvPr id="9" name="Text 7"/>
          <p:cNvSpPr/>
          <p:nvPr/>
        </p:nvSpPr>
        <p:spPr>
          <a:xfrm>
            <a:off x="6502400" y="2514513"/>
            <a:ext cx="470916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x(n + k) · LEFT BY 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2400" y="2951336"/>
            <a:ext cx="4709160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δ(n + 1)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502400" y="3606626"/>
            <a:ext cx="4709160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Spike lands at n = −1. In code: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n(i) == -1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4536194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check: set the inside of the brackets to zero and solve for n.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tools from this section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2221002"/>
          <a:ext cx="10555111" cy="3065198"/>
        </p:xfrm>
        <a:graphic>
          <a:graphicData uri="http://schemas.openxmlformats.org/drawingml/2006/table">
            <a:tbl>
              <a:tblPr/>
              <a:tblGrid>
                <a:gridCol w="4010942"/>
                <a:gridCol w="6544169"/>
              </a:tblGrid>
              <a:tr h="437885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8EE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8EE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01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C2E"/>
                    </a:solidFill>
                  </a:tcPr>
                </a:tc>
              </a:tr>
              <a:tr h="437885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 = -2:4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Sample indices from −2 to 4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A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885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zeros(size(n))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vector of zeros the same size as n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437885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 i = 1:length(n)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Visit every sample, one at a time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885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if / elseif / end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Pick which samples get a value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  <a:tr h="437885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.^ and .*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Element-by-element power and multiply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885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stem(n, x)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Plot a digital signal as stems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these on your own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12888"/>
            <a:ext cx="3380317" cy="2107847"/>
          </a:xfrm>
          <a:prstGeom prst="roundRect">
            <a:avLst>
              <a:gd name="adj" fmla="val 4669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244" y="2520156"/>
            <a:ext cx="284875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3244" y="2956979"/>
            <a:ext cx="2848751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u(n + 1)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3244" y="3444615"/>
            <a:ext cx="2848751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Plot it for n = -3:5. Where does the step start?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5842" y="2212888"/>
            <a:ext cx="3380317" cy="2107847"/>
          </a:xfrm>
          <a:prstGeom prst="roundRect">
            <a:avLst>
              <a:gd name="adj" fmla="val 4669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3111" y="2520156"/>
            <a:ext cx="284875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13111" y="2956979"/>
            <a:ext cx="2848751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5(0.5)ⁿu(n)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111" y="3444615"/>
            <a:ext cx="2848751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Plot it for n = 0:9. Does it decay faster than Example 1?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95708" y="2212888"/>
            <a:ext cx="3380317" cy="2107847"/>
          </a:xfrm>
          <a:prstGeom prst="roundRect">
            <a:avLst>
              <a:gd name="adj" fmla="val 4669"/>
            </a:avLst>
          </a:prstGeom>
          <a:solidFill>
            <a:srgbClr val="FBF9F4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978" y="2520156"/>
            <a:ext cx="2848751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978" y="2956979"/>
            <a:ext cx="2848751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2δ(n) − δ(n − 3)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02978" y="3444615"/>
            <a:ext cx="2848751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Plot it for n = -2:5 using if / elseif.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4628716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Tip:</a:t>
            </a: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start from the closest example code and change only the range, the condition or the formula.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2633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- SECTION FOUR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36475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45695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questions?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137645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Lobna Abouelmagd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471161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ENG. Moamen Yasser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LAB Section 4 – Digital Signals">
  <a:themeElements>
    <a:clrScheme name="MATLAB Section 4 – Digital Signals">
      <a:dk1>
        <a:srgbClr val="16202E"/>
      </a:dk1>
      <a:lt1>
        <a:srgbClr val="F4F1EA"/>
      </a:lt1>
      <a:dk2>
        <a:srgbClr val="4E545D"/>
      </a:dk2>
      <a:lt2>
        <a:srgbClr val="DEDCD7"/>
      </a:lt2>
      <a:accent1>
        <a:srgbClr val="1C5FA8"/>
      </a:accent1>
      <a:accent2>
        <a:srgbClr val="B44A12"/>
      </a:accent2>
      <a:accent3>
        <a:srgbClr val="F08A4B"/>
      </a:accent3>
      <a:accent4>
        <a:srgbClr val="4A5568"/>
      </a:accent4>
      <a:accent5>
        <a:srgbClr val="B9C7D8"/>
      </a:accent5>
      <a:accent6>
        <a:srgbClr val="9AA0A6"/>
      </a:accent6>
      <a:hlink>
        <a:srgbClr val="0563C1"/>
      </a:hlink>
      <a:folHlink>
        <a:srgbClr val="954F72"/>
      </a:folHlink>
    </a:clrScheme>
    <a:fontScheme name="MATLAB Section 4 – Digital Signals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 Section 4 – Digital Signals</dc:title>
  <dc:subject/>
  <dc:creator/>
  <cp:lastModifiedBy/>
  <cp:revision>1</cp:revision>
  <dcterms:created xsi:type="dcterms:W3CDTF">2026-10-28T07:29:57Z</dcterms:created>
  <dcterms:modified xsi:type="dcterms:W3CDTF">2026-10-28T07:29:57Z</dcterms:modified>
</cp:coreProperties>
</file>