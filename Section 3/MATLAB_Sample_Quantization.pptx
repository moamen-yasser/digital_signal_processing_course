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f9584e2-05e8-93d2-f1c6-2be55470cc1b}">
          <p14:sldIdLst>
            <p14:sldId id="256"/>
          </p14:sldIdLst>
        </p14:section>
        <p14:section name="Example 2.13" id="{e3e2d5b2-fff6-5a4e-9cdb-8e969e8dda26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Example 2.14" id="{6cf94a9a-028e-0d50-551f-1212da8c1c3a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Practice" id="{24c35c60-735d-2e75-ffeb-87798c224652}">
          <p14:sldIdLst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0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02E"/>
                </a:solidFill>
                <a:latin typeface="+mn-lt"/>
              </a:rPr>
              <a:t>SNR (dB) vs number of bits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SNR (dB)</c:v>
                </c:pt>
              </c:strCache>
            </c:strRef>
          </c:tx>
          <c:spPr>
            <a:solidFill>
              <a:srgbClr val="1C5FA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 bits</c:v>
                  </c:pt>
                  <c:pt idx="1">
                    <c:v>4 bits</c:v>
                  </c:pt>
                  <c:pt idx="2">
                    <c:v>6 bits</c:v>
                  </c:pt>
                  <c:pt idx="3">
                    <c:v>8 bits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12.55</c:v>
                </c:pt>
                <c:pt idx="1">
                  <c:v>25.78</c:v>
                </c:pt>
                <c:pt idx="2">
                  <c:v>37.01</c:v>
                </c:pt>
                <c:pt idx="3">
                  <c:v>49.52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6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0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D9D3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A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Three covers two textbook examples (2.13 and 2.14) on analog-to-digital conversion: sample a sine wave, quantize it with 4 bits, plot the result and measure the quantization SNR.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a computer can only store numbers with a limited number of bits. Quantization rounds every sample to the nearest of a few allowed levels. We need to see the effect (plot) and measure the damage (SNR).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define every number once so the rest of the program can reuse it. Problem fixed: without a time vector there is nothing to evaluate the sine on. Ts = 125 microseconds; 0.02 s is exactly two periods of 100 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create the analog-like input. MATLAB is vectorized, so one line computes all 161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describe the quantizer. Bits decide l, the range decides delta. Smaller delta means a smaller error, so more bits means better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program. (x-xmin)/delta counts how many steps the sample is above the bottom of the range; round picks the nearest step number; xmin+i*delta turns that number back into volts.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see the quantization. The orange curve follows the blue one in small steps, and it is clipped slightly at the peaks because 4.5 V sits between two levels.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quantify how far each sample moved. Note: abs(eq); ends with a semicolon, so it prints nothing and eq itself stays signed. Remove the semicolon to see the sizes. Our run gives a maximum of about 0.297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Parameters, signal, quantizer, plot, error: five blocks in one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SNR is signal power divided by noise power. Here the quantization error is the noise. E_x2 is about 10.1 (4.5 squared over 2); E_eq2 is about 0.0268.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Decibels compress the huge ratio 378 into a friendly number: 10*log10(378) = 25.78 dB. Rule of thumb: every extra bit adds about 6 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systems read recorded samples from a file. Since we do not have the book's speech file, the program first creates signal.txt from the same 100 Hz sine.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manufacture a test input. 0.25 s at 8000 Hz gives 2001 samples. %f writes 6 decimals, so the file stores slightly rounded values. fclose is essential: without it the file may not be fully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read the data like a program would read a recording. t = (0:N-1)/fs means sample number divided by samples per second = time in seconds. The PDF repeats fm, Ts and x here; they are not needed once sig is 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practice: the quantizer works on any vector, so the same code handles a sine, speech or any other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stairs holds each value until the next sample, which is what a digital-to-analog converter does (sample and hold). Stacked axes share the same time scale so the signals are easy to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error stays between 0 and about 0.3 V, which is below delta/2 = 0.3125. That is the proof that the quantizer works as designed.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card: load and quantize (part a). Right card: three plots (part b). The SNR block (part c) is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abs(eq) does not change the SNR, because squaring removes the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signal, same quantizer, so the same SNR: reading the data from a file does not change the quality, it only changes where the data comes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extra bit halves delta, which cuts the error power by 4 times, i.e. 6 dB. Measured values for this sine: 2 bits 12.55 dB, 4 bits 25.78 dB, 6 bits 37.01 dB, 8 bits 49.52 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one-page summary of every new function in Section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902" y="2654503"/>
            <a:ext cx="10566806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2114093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MATLAB ONRAMP - SECTION THREE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2654503"/>
            <a:ext cx="105668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2"/>
                </a:solidFill>
              </a:rPr>
              <a:t>Quantization and SNR</a:t>
            </a:r>
            <a:endParaRPr lang="en-US" sz="6000" dirty="0"/>
          </a:p>
        </p:txBody>
      </p:sp>
      <p:sp>
        <p:nvSpPr>
          <p:cNvPr id="4" name="Subtitle"/>
          <p:cNvSpPr txBox="1"/>
          <p:nvPr/>
        </p:nvSpPr>
        <p:spPr>
          <a:xfrm>
            <a:off x="812902" y="3746297"/>
            <a:ext cx="10566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Sampling, quantizing and measuring signal quality in MATLAB</a:t>
            </a:r>
            <a:endParaRPr lang="en-US" sz="2400" dirty="0"/>
          </a:p>
        </p:txBody>
      </p:sp>
      <p:sp>
        <p:nvSpPr>
          <p:cNvPr id="5" name="Supervisor"/>
          <p:cNvSpPr txBox="1"/>
          <p:nvPr/>
        </p:nvSpPr>
        <p:spPr>
          <a:xfrm>
            <a:off x="812902" y="5131613"/>
            <a:ext cx="105668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Under the supervision of </a:t>
            </a:r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DR. Lobna Abouelmagd</a:t>
            </a:r>
            <a:endParaRPr lang="en-US" sz="1800" dirty="0"/>
          </a:p>
        </p:txBody>
      </p:sp>
      <p:sp>
        <p:nvSpPr>
          <p:cNvPr id="6" name="Preparer"/>
          <p:cNvSpPr txBox="1"/>
          <p:nvPr/>
        </p:nvSpPr>
        <p:spPr>
          <a:xfrm>
            <a:off x="812902" y="5552237"/>
            <a:ext cx="105668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Prepared by </a:t>
            </a:r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ENG. Moamen Yasser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2114093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MATLAB ONRAMP - SECTION THREE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2654503"/>
            <a:ext cx="105668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2"/>
                </a:solidFill>
              </a:rPr>
              <a:t>Quantization and SNR</a:t>
            </a:r>
            <a:endParaRPr lang="en-US" sz="6000" dirty="0"/>
          </a:p>
        </p:txBody>
      </p:sp>
      <p:sp>
        <p:nvSpPr>
          <p:cNvPr id="4" name="Subtitle"/>
          <p:cNvSpPr txBox="1"/>
          <p:nvPr/>
        </p:nvSpPr>
        <p:spPr>
          <a:xfrm>
            <a:off x="812902" y="3746297"/>
            <a:ext cx="10566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Part 1: Example 2.13</a:t>
            </a:r>
            <a:endParaRPr lang="en-US" sz="2800" dirty="0"/>
          </a:p>
        </p:txBody>
      </p:sp>
      <p:sp>
        <p:nvSpPr>
          <p:cNvPr id="5" name="Small line"/>
          <p:cNvSpPr txBox="1"/>
          <p:nvPr/>
        </p:nvSpPr>
        <p:spPr>
          <a:xfrm>
            <a:off x="812902" y="4480560"/>
            <a:ext cx="10566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Quantize a sine wave · Part 1 of 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Example 2.13: quantize a sine wave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49194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sinusoid x(t) = 4.5·sin(2π·100t) is sampled at 8,000 Hz.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a) Quantize it with 4 bits for a range of −5 V to 5 V and plot it.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b) Calculate the SNR due to quantization.</a:t>
            </a:r>
            <a:endParaRPr lang="en-US" sz="2000" dirty="0"/>
          </a:p>
        </p:txBody>
      </p:sp>
      <p:sp>
        <p:nvSpPr>
          <p:cNvPr id="6" name="Card 1"/>
          <p:cNvSpPr/>
          <p:nvPr/>
        </p:nvSpPr>
        <p:spPr>
          <a:xfrm>
            <a:off x="5993892" y="2210105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Card value 1"/>
          <p:cNvSpPr txBox="1"/>
          <p:nvPr/>
        </p:nvSpPr>
        <p:spPr>
          <a:xfrm>
            <a:off x="6222492" y="2392985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100 Hz</a:t>
            </a:r>
            <a:endParaRPr lang="en-US" sz="3200" dirty="0"/>
          </a:p>
        </p:txBody>
      </p:sp>
      <p:sp>
        <p:nvSpPr>
          <p:cNvPr id="8" name="Card label 1"/>
          <p:cNvSpPr txBox="1"/>
          <p:nvPr/>
        </p:nvSpPr>
        <p:spPr>
          <a:xfrm>
            <a:off x="6222492" y="301477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signal frequency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8818474" y="2210105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Card value 2"/>
          <p:cNvSpPr txBox="1"/>
          <p:nvPr/>
        </p:nvSpPr>
        <p:spPr>
          <a:xfrm>
            <a:off x="9047074" y="2392985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8,000 Hz</a:t>
            </a:r>
            <a:endParaRPr lang="en-US" sz="3200" dirty="0"/>
          </a:p>
        </p:txBody>
      </p:sp>
      <p:sp>
        <p:nvSpPr>
          <p:cNvPr id="11" name="Card label 2"/>
          <p:cNvSpPr txBox="1"/>
          <p:nvPr/>
        </p:nvSpPr>
        <p:spPr>
          <a:xfrm>
            <a:off x="9047074" y="301477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sampling rate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5993892" y="3764585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Card value 3"/>
          <p:cNvSpPr txBox="1"/>
          <p:nvPr/>
        </p:nvSpPr>
        <p:spPr>
          <a:xfrm>
            <a:off x="6222492" y="3947465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4 bits</a:t>
            </a:r>
            <a:endParaRPr lang="en-US" sz="3200" dirty="0"/>
          </a:p>
        </p:txBody>
      </p:sp>
      <p:sp>
        <p:nvSpPr>
          <p:cNvPr id="14" name="Card label 3"/>
          <p:cNvSpPr txBox="1"/>
          <p:nvPr/>
        </p:nvSpPr>
        <p:spPr>
          <a:xfrm>
            <a:off x="6222492" y="456925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16 steps</a:t>
            </a:r>
            <a:endParaRPr lang="en-US" sz="1400" dirty="0"/>
          </a:p>
        </p:txBody>
      </p:sp>
      <p:sp>
        <p:nvSpPr>
          <p:cNvPr id="15" name="Card 4"/>
          <p:cNvSpPr/>
          <p:nvPr/>
        </p:nvSpPr>
        <p:spPr>
          <a:xfrm>
            <a:off x="8818474" y="3764585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Card value 4"/>
          <p:cNvSpPr txBox="1"/>
          <p:nvPr/>
        </p:nvSpPr>
        <p:spPr>
          <a:xfrm>
            <a:off x="9047074" y="3947465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±5 V</a:t>
            </a:r>
            <a:endParaRPr lang="en-US" sz="3200" dirty="0"/>
          </a:p>
        </p:txBody>
      </p:sp>
      <p:sp>
        <p:nvSpPr>
          <p:cNvPr id="17" name="Card label 4"/>
          <p:cNvSpPr txBox="1"/>
          <p:nvPr/>
        </p:nvSpPr>
        <p:spPr>
          <a:xfrm>
            <a:off x="9047074" y="456925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signal range</a:t>
            </a:r>
            <a:endParaRPr lang="en-US" sz="1400" dirty="0"/>
          </a:p>
        </p:txBody>
      </p:sp>
      <p:sp>
        <p:nvSpPr>
          <p:cNvPr id="18" name="Task bar"/>
          <p:cNvSpPr/>
          <p:nvPr/>
        </p:nvSpPr>
        <p:spPr>
          <a:xfrm>
            <a:off x="812902" y="541050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goal: turn a smooth sine into a staircase of levels, then measure how good it is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TASK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Set the sampling parameters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4919472" cy="186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Name the signal frequency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signalFrequency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the sampling rate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samplingRate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and the sampling period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samplingPeriod = 1/samplingRate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 The time vector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timeVector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steps by samplingPeriod from 0 to 0.02 s, giving 161 samples.</a:t>
            </a:r>
            <a:endParaRPr lang="en-US" sz="2000" dirty="0"/>
          </a:p>
        </p:txBody>
      </p:sp>
      <p:sp>
        <p:nvSpPr>
          <p:cNvPr id="6" name="Code box"/>
          <p:cNvSpPr/>
          <p:nvPr/>
        </p:nvSpPr>
        <p:spPr>
          <a:xfrm>
            <a:off x="5993892" y="2210105"/>
            <a:ext cx="5384902" cy="2032000"/>
          </a:xfrm>
          <a:prstGeom prst="roundRect">
            <a:avLst>
              <a:gd name="adj" fmla="val 4500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7" name="Code code"/>
          <p:cNvSpPr txBox="1"/>
          <p:nvPr/>
        </p:nvSpPr>
        <p:spPr>
          <a:xfrm>
            <a:off x="6268212" y="2438705"/>
            <a:ext cx="4836262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signalFrequency=100;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samplingRate=8000;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samplingPeriod=1/samplingRate;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timeVector=0:samplingPeriod:.02;</a:t>
            </a:r>
            <a:endParaRPr lang="en-US" sz="2000" dirty="0"/>
          </a:p>
        </p:txBody>
      </p:sp>
      <p:sp>
        <p:nvSpPr>
          <p:cNvPr id="8" name="Task bar"/>
          <p:cNvSpPr/>
          <p:nvPr/>
        </p:nvSpPr>
        <p:spPr>
          <a:xfrm>
            <a:off x="812902" y="451642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create signalFrequency, samplingRate, samplingPeriod and a time vector timeVector from 0 to 0.02 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TASK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Generate the original signal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4919472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Apply the sine formula to every element of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timeVector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at once.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originalSignal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is a vector of 161 samples with a peak of 4.5 V.</a:t>
            </a:r>
            <a:endParaRPr lang="en-US" sz="2000" dirty="0"/>
          </a:p>
        </p:txBody>
      </p:sp>
      <p:sp>
        <p:nvSpPr>
          <p:cNvPr id="6" name="Code box"/>
          <p:cNvSpPr/>
          <p:nvPr/>
        </p:nvSpPr>
        <p:spPr>
          <a:xfrm>
            <a:off x="5993892" y="2210105"/>
            <a:ext cx="5384902" cy="1244600"/>
          </a:xfrm>
          <a:prstGeom prst="roundRect">
            <a:avLst>
              <a:gd name="adj" fmla="val 7347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7" name="Code code"/>
          <p:cNvSpPr txBox="1"/>
          <p:nvPr/>
        </p:nvSpPr>
        <p:spPr>
          <a:xfrm>
            <a:off x="6268212" y="2438705"/>
            <a:ext cx="483626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35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%original signal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3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originalSignal= 4.5*sin(2*pi*100*timeVector);</a:t>
            </a:r>
            <a:endParaRPr lang="en-US" sz="2000" dirty="0"/>
          </a:p>
        </p:txBody>
      </p:sp>
      <p:sp>
        <p:nvSpPr>
          <p:cNvPr id="8" name="Task bar"/>
          <p:cNvSpPr/>
          <p:nvPr/>
        </p:nvSpPr>
        <p:spPr>
          <a:xfrm>
            <a:off x="812902" y="372902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build originalSignal with originalSignal = 4.5*sin(2*pi*100*timeVector) and check that max(originalSignal) is close to 4.5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TASK 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Define the quantization rule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4919472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 4-bit quantizer has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numLevels = 2^4 = 16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steps across the range. The step size is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stepSize = (maxVoltage - minVoltage)/numLevels = 10/16 = 0.625 V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6" name="Code box"/>
          <p:cNvSpPr/>
          <p:nvPr/>
        </p:nvSpPr>
        <p:spPr>
          <a:xfrm>
            <a:off x="5993892" y="2210105"/>
            <a:ext cx="5384902" cy="2425700"/>
          </a:xfrm>
          <a:prstGeom prst="roundRect">
            <a:avLst>
              <a:gd name="adj" fmla="val 3770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7" name="Code code"/>
          <p:cNvSpPr txBox="1"/>
          <p:nvPr/>
        </p:nvSpPr>
        <p:spPr>
          <a:xfrm>
            <a:off x="6268212" y="2438705"/>
            <a:ext cx="4836262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%quantization rule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maxVoltage=5;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minVoltage=-5;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numLevels=2^4;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stepSize=(maxVoltage-minVoltage)/numLevels;</a:t>
            </a:r>
            <a:endParaRPr lang="en-US" sz="2000" dirty="0"/>
          </a:p>
        </p:txBody>
      </p:sp>
      <p:sp>
        <p:nvSpPr>
          <p:cNvPr id="8" name="Task bar"/>
          <p:cNvSpPr/>
          <p:nvPr/>
        </p:nvSpPr>
        <p:spPr>
          <a:xfrm>
            <a:off x="812902" y="491012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set maxVoltage, minVoltage and numLevels, then compute stepSize and check that it equals 0.625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TASK 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Quantize the signal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55778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Shift originalSignal so the range starts at 0, divide by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stepSize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and round to a whole step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levelIndex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 Convert back to volts with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quantizedSignal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6" name="Code box"/>
          <p:cNvSpPr/>
          <p:nvPr/>
        </p:nvSpPr>
        <p:spPr>
          <a:xfrm>
            <a:off x="812902" y="3505505"/>
            <a:ext cx="5577840" cy="1087120"/>
          </a:xfrm>
          <a:prstGeom prst="roundRect">
            <a:avLst>
              <a:gd name="adj" fmla="val 8411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7" name="Code code"/>
          <p:cNvSpPr txBox="1"/>
          <p:nvPr/>
        </p:nvSpPr>
        <p:spPr>
          <a:xfrm>
            <a:off x="1087222" y="3734105"/>
            <a:ext cx="502920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80"/>
              </a:lnSpc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levelIndex=round((originalSignal-minVoltage)/stepSize);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quantizedSignal=minVoltage+levelIndex*stepSize;</a:t>
            </a:r>
            <a:endParaRPr lang="en-US" sz="1600" dirty="0"/>
          </a:p>
        </p:txBody>
      </p:sp>
      <p:pic>
        <p:nvPicPr>
          <p:cNvPr id="8" name="Figure" descr="Quantize the signal pl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128" y="2210105"/>
            <a:ext cx="4572000" cy="2794000"/>
          </a:xfrm>
          <a:prstGeom prst="rect">
            <a:avLst/>
          </a:prstGeom>
        </p:spPr>
      </p:pic>
      <p:sp>
        <p:nvSpPr>
          <p:cNvPr id="9" name="Task bar"/>
          <p:cNvSpPr/>
          <p:nvPr/>
        </p:nvSpPr>
        <p:spPr>
          <a:xfrm>
            <a:off x="812902" y="527842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compute levelIndex and quantizedSignal, then check that every quantizedSignal value sits on a multiple of 0.625 above -5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TASK 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Plot original and quantized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55778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Plot both signals on the same axes, then add a legend, a title and axis labels so the figure can be read.</a:t>
            </a:r>
            <a:endParaRPr lang="en-US" sz="2000" dirty="0"/>
          </a:p>
        </p:txBody>
      </p:sp>
      <p:sp>
        <p:nvSpPr>
          <p:cNvPr id="6" name="Code box"/>
          <p:cNvSpPr/>
          <p:nvPr/>
        </p:nvSpPr>
        <p:spPr>
          <a:xfrm>
            <a:off x="812902" y="3505505"/>
            <a:ext cx="5577840" cy="1835150"/>
          </a:xfrm>
          <a:prstGeom prst="roundRect">
            <a:avLst>
              <a:gd name="adj" fmla="val 4983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7" name="Code code"/>
          <p:cNvSpPr txBox="1"/>
          <p:nvPr/>
        </p:nvSpPr>
        <p:spPr>
          <a:xfrm>
            <a:off x="1087222" y="3734105"/>
            <a:ext cx="5029200" cy="137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plot(timeVector,originalSignal,timeVector,quantizedSignal);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legend('original signal','quantized signal');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title('Signal and quantized Signal');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xlabel('time(s)');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ylabel('quantized x(n)');</a:t>
            </a:r>
            <a:endParaRPr lang="en-US" sz="1400" dirty="0"/>
          </a:p>
        </p:txBody>
      </p:sp>
      <p:pic>
        <p:nvPicPr>
          <p:cNvPr id="8" name="Figure" descr="Plot original and quantized pl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128" y="2210105"/>
            <a:ext cx="4572000" cy="2794000"/>
          </a:xfrm>
          <a:prstGeom prst="rect">
            <a:avLst/>
          </a:prstGeom>
        </p:spPr>
      </p:pic>
      <p:sp>
        <p:nvSpPr>
          <p:cNvPr id="9" name="Task bar"/>
          <p:cNvSpPr/>
          <p:nvPr/>
        </p:nvSpPr>
        <p:spPr>
          <a:xfrm>
            <a:off x="812902" y="561497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plot originalSignal and quantizedSignal together and add the legend, title and labels from the code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TASK 6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 the quantization error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4919472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error is the quantized value minus the original value.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abs(quantizationError)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gives its size, which can never exceed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stepSize/2 = 0.3125 V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6" name="Code box"/>
          <p:cNvSpPr/>
          <p:nvPr/>
        </p:nvSpPr>
        <p:spPr>
          <a:xfrm>
            <a:off x="5993892" y="2210105"/>
            <a:ext cx="5384902" cy="1244600"/>
          </a:xfrm>
          <a:prstGeom prst="roundRect">
            <a:avLst>
              <a:gd name="adj" fmla="val 7347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7" name="Code code"/>
          <p:cNvSpPr txBox="1"/>
          <p:nvPr/>
        </p:nvSpPr>
        <p:spPr>
          <a:xfrm>
            <a:off x="6268212" y="2438705"/>
            <a:ext cx="483626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quantizationError=quantizedSignal-originalSignal;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abs(quantizationError);</a:t>
            </a:r>
            <a:endParaRPr lang="en-US" sz="2000" dirty="0"/>
          </a:p>
        </p:txBody>
      </p:sp>
      <p:sp>
        <p:nvSpPr>
          <p:cNvPr id="8" name="Task bar"/>
          <p:cNvSpPr/>
          <p:nvPr/>
        </p:nvSpPr>
        <p:spPr>
          <a:xfrm>
            <a:off x="812902" y="390682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compute quantizationError and check that max(abs(quantizationError)) is below 0.3125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FULL EXAMPLE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Example 2.13 part a: the full script</a:t>
            </a:r>
            <a:endParaRPr lang="en-US" sz="3600" dirty="0"/>
          </a:p>
        </p:txBody>
      </p:sp>
      <p:sp>
        <p:nvSpPr>
          <p:cNvPr id="5" name="Code box 1"/>
          <p:cNvSpPr/>
          <p:nvPr/>
        </p:nvSpPr>
        <p:spPr>
          <a:xfrm>
            <a:off x="812902" y="2210105"/>
            <a:ext cx="4850000" cy="3606800"/>
          </a:xfrm>
          <a:prstGeom prst="roundRect">
            <a:avLst>
              <a:gd name="adj" fmla="val 2535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6" name="Code 1"/>
          <p:cNvSpPr txBox="1"/>
          <p:nvPr/>
        </p:nvSpPr>
        <p:spPr>
          <a:xfrm>
            <a:off x="1087222" y="2438705"/>
            <a:ext cx="43000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signalFrequency=100;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samplingRate=8000;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samplingPeriod=1/samplingRate;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timeVector=0:samplingPeriod:.02;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%original signal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originalSignal= 4.5*sin(2*pi*100*timeVector);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%quantization rule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maxVoltage=5;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minVoltage=-5;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numLevels=2^4;</a:t>
            </a:r>
            <a:endParaRPr lang="en-US" sz="1600" dirty="0"/>
          </a:p>
        </p:txBody>
      </p:sp>
      <p:sp>
        <p:nvSpPr>
          <p:cNvPr id="7" name="Code box 2"/>
          <p:cNvSpPr/>
          <p:nvPr/>
        </p:nvSpPr>
        <p:spPr>
          <a:xfrm>
            <a:off x="5912902" y="2210105"/>
            <a:ext cx="5466806" cy="3606800"/>
          </a:xfrm>
          <a:prstGeom prst="roundRect">
            <a:avLst>
              <a:gd name="adj" fmla="val 2535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8" name="Code 2"/>
          <p:cNvSpPr txBox="1"/>
          <p:nvPr/>
        </p:nvSpPr>
        <p:spPr>
          <a:xfrm>
            <a:off x="6187222" y="2438705"/>
            <a:ext cx="4916806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stepSize=(maxVoltage-minVoltage)/numLevels;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levelIndex=round((originalSignal-minVoltage)/stepSize);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quantizedSignal=minVoltage+levelIndex*stepSize;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plot(timeVector,originalSignal,timeVector,quantizedSignal);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legend('original signal','quantized signal');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title('Signal and quantized Signal');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xlabel('time(s)');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ylabel('quantized x(n)');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quantizationError=quantizedSignal-originalSignal;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abs(quantizationError);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TASK 7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Part b: signal and error powers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4919472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mean of the squared samples is the average power. Find it for the signal (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signalPower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and the error (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errorPower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). The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.^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operator squares every element.</a:t>
            </a:r>
            <a:endParaRPr lang="en-US" sz="2000" dirty="0"/>
          </a:p>
        </p:txBody>
      </p:sp>
      <p:sp>
        <p:nvSpPr>
          <p:cNvPr id="6" name="Code box"/>
          <p:cNvSpPr/>
          <p:nvPr/>
        </p:nvSpPr>
        <p:spPr>
          <a:xfrm>
            <a:off x="5993892" y="2210105"/>
            <a:ext cx="5384902" cy="1638300"/>
          </a:xfrm>
          <a:prstGeom prst="roundRect">
            <a:avLst>
              <a:gd name="adj" fmla="val 5581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7" name="Code code"/>
          <p:cNvSpPr txBox="1"/>
          <p:nvPr/>
        </p:nvSpPr>
        <p:spPr>
          <a:xfrm>
            <a:off x="6268212" y="2438705"/>
            <a:ext cx="4836262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signalPower = mean(originalSignal.^2);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errorPower = mean(quantizationError.^2);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snrRatio = signalPower / errorPower;</a:t>
            </a:r>
            <a:endParaRPr lang="en-US" sz="2000" dirty="0"/>
          </a:p>
        </p:txBody>
      </p:sp>
      <p:sp>
        <p:nvSpPr>
          <p:cNvPr id="8" name="Task bar"/>
          <p:cNvSpPr/>
          <p:nvPr/>
        </p:nvSpPr>
        <p:spPr>
          <a:xfrm>
            <a:off x="812902" y="412272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compute signalPower, errorPower and snrRatio, and check that SNR is about 378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TASK 8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Convert to dB and print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10566806" cy="80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Engineers quote SNR in decibels: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snrDb = 10·log10(snrRatio)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 In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fprintf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%.2f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prints a number with 2 decimals and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starts a new line.</a:t>
            </a:r>
            <a:endParaRPr lang="en-US" sz="2000" dirty="0"/>
          </a:p>
        </p:txBody>
      </p:sp>
      <p:sp>
        <p:nvSpPr>
          <p:cNvPr id="6" name="Code box"/>
          <p:cNvSpPr/>
          <p:nvPr/>
        </p:nvSpPr>
        <p:spPr>
          <a:xfrm>
            <a:off x="812902" y="3195625"/>
            <a:ext cx="10566806" cy="1165860"/>
          </a:xfrm>
          <a:prstGeom prst="roundRect">
            <a:avLst>
              <a:gd name="adj" fmla="val 7843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7" name="Code code"/>
          <p:cNvSpPr txBox="1"/>
          <p:nvPr/>
        </p:nvSpPr>
        <p:spPr>
          <a:xfrm>
            <a:off x="1087222" y="3424225"/>
            <a:ext cx="10018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snrDb = 10 * log10(snrRatio);</a:t>
            </a:r>
            <a:endParaRPr lang="en-US" sz="1800" dirty="0"/>
          </a:p>
          <a:p>
            <a:pPr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fprintf('The SNR due to quantization is: %.2f dB\n', snrDb);</a:t>
            </a:r>
            <a:endParaRPr lang="en-US" sz="1800" dirty="0"/>
          </a:p>
        </p:txBody>
      </p:sp>
      <p:sp>
        <p:nvSpPr>
          <p:cNvPr id="8" name="Output box"/>
          <p:cNvSpPr/>
          <p:nvPr/>
        </p:nvSpPr>
        <p:spPr>
          <a:xfrm>
            <a:off x="812902" y="4544365"/>
            <a:ext cx="1056680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  <p:txBody>
          <a:bodyPr/>
          <a:p/>
        </p:txBody>
      </p:sp>
      <p:sp>
        <p:nvSpPr>
          <p:cNvPr id="9" name="Output text"/>
          <p:cNvSpPr txBox="1"/>
          <p:nvPr/>
        </p:nvSpPr>
        <p:spPr>
          <a:xfrm>
            <a:off x="1087222" y="4544365"/>
            <a:ext cx="100181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Window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SNR due to quantization is: 25.78 dB</a:t>
            </a:r>
            <a:endParaRPr lang="en-US" sz="1400" dirty="0"/>
          </a:p>
        </p:txBody>
      </p:sp>
      <p:sp>
        <p:nvSpPr>
          <p:cNvPr id="10" name="Task bar"/>
          <p:cNvSpPr/>
          <p:nvPr/>
        </p:nvSpPr>
        <p:spPr>
          <a:xfrm>
            <a:off x="812902" y="541304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run the script and check that the Command Window prints 25.78 dB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2114093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MATLAB ONRAMP - SECTION THREE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2654503"/>
            <a:ext cx="105668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2"/>
                </a:solidFill>
              </a:rPr>
              <a:t>Quantization and SNR</a:t>
            </a:r>
            <a:endParaRPr lang="en-US" sz="6000" dirty="0"/>
          </a:p>
        </p:txBody>
      </p:sp>
      <p:sp>
        <p:nvSpPr>
          <p:cNvPr id="4" name="Subtitle"/>
          <p:cNvSpPr txBox="1"/>
          <p:nvPr/>
        </p:nvSpPr>
        <p:spPr>
          <a:xfrm>
            <a:off x="812902" y="3746297"/>
            <a:ext cx="10566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</a:rPr>
              <a:t>Part 2: Example 2.14</a:t>
            </a:r>
            <a:endParaRPr lang="en-US" sz="2800" dirty="0"/>
          </a:p>
        </p:txBody>
      </p:sp>
      <p:sp>
        <p:nvSpPr>
          <p:cNvPr id="5" name="Small line"/>
          <p:cNvSpPr txBox="1"/>
          <p:nvPr/>
        </p:nvSpPr>
        <p:spPr>
          <a:xfrm>
            <a:off x="812902" y="4480560"/>
            <a:ext cx="10566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Quantize a signal stored in a file · Part 2 of 2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Example 2.14: a signal from a file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49194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speech signal sampled at 8,000 Hz is stored in a file.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a) Quantize it with a 4-bit quantizer for −5 V to 5 V.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b) Plot the original, quantized and error signals.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c) Calculate the SNR.</a:t>
            </a:r>
            <a:endParaRPr lang="en-US" sz="2000" dirty="0"/>
          </a:p>
        </p:txBody>
      </p:sp>
      <p:sp>
        <p:nvSpPr>
          <p:cNvPr id="6" name="Card 1"/>
          <p:cNvSpPr/>
          <p:nvPr/>
        </p:nvSpPr>
        <p:spPr>
          <a:xfrm>
            <a:off x="5993892" y="2210105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Card value 1"/>
          <p:cNvSpPr txBox="1"/>
          <p:nvPr/>
        </p:nvSpPr>
        <p:spPr>
          <a:xfrm>
            <a:off x="6222492" y="2392985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8,000 Hz</a:t>
            </a:r>
            <a:endParaRPr lang="en-US" sz="3200" dirty="0"/>
          </a:p>
        </p:txBody>
      </p:sp>
      <p:sp>
        <p:nvSpPr>
          <p:cNvPr id="8" name="Card label 1"/>
          <p:cNvSpPr txBox="1"/>
          <p:nvPr/>
        </p:nvSpPr>
        <p:spPr>
          <a:xfrm>
            <a:off x="6222492" y="301477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sampling rate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8818474" y="2210105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Card value 2"/>
          <p:cNvSpPr txBox="1"/>
          <p:nvPr/>
        </p:nvSpPr>
        <p:spPr>
          <a:xfrm>
            <a:off x="9047074" y="2392985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4 bits</a:t>
            </a:r>
            <a:endParaRPr lang="en-US" sz="3200" dirty="0"/>
          </a:p>
        </p:txBody>
      </p:sp>
      <p:sp>
        <p:nvSpPr>
          <p:cNvPr id="11" name="Card label 2"/>
          <p:cNvSpPr txBox="1"/>
          <p:nvPr/>
        </p:nvSpPr>
        <p:spPr>
          <a:xfrm>
            <a:off x="9047074" y="301477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16 steps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5993892" y="3764585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Card value 3"/>
          <p:cNvSpPr txBox="1"/>
          <p:nvPr/>
        </p:nvSpPr>
        <p:spPr>
          <a:xfrm>
            <a:off x="6222492" y="3947465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±5 V</a:t>
            </a:r>
            <a:endParaRPr lang="en-US" sz="3200" dirty="0"/>
          </a:p>
        </p:txBody>
      </p:sp>
      <p:sp>
        <p:nvSpPr>
          <p:cNvPr id="14" name="Card label 3"/>
          <p:cNvSpPr txBox="1"/>
          <p:nvPr/>
        </p:nvSpPr>
        <p:spPr>
          <a:xfrm>
            <a:off x="6222492" y="456925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signal range</a:t>
            </a:r>
            <a:endParaRPr lang="en-US" sz="1400" dirty="0"/>
          </a:p>
        </p:txBody>
      </p:sp>
      <p:sp>
        <p:nvSpPr>
          <p:cNvPr id="15" name="Card 4"/>
          <p:cNvSpPr/>
          <p:nvPr/>
        </p:nvSpPr>
        <p:spPr>
          <a:xfrm>
            <a:off x="8818474" y="3764585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Card value 4"/>
          <p:cNvSpPr txBox="1"/>
          <p:nvPr/>
        </p:nvSpPr>
        <p:spPr>
          <a:xfrm>
            <a:off x="9047074" y="3947465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 plots</a:t>
            </a:r>
            <a:endParaRPr lang="en-US" sz="3200" dirty="0"/>
          </a:p>
        </p:txBody>
      </p:sp>
      <p:sp>
        <p:nvSpPr>
          <p:cNvPr id="17" name="Card label 4"/>
          <p:cNvSpPr txBox="1"/>
          <p:nvPr/>
        </p:nvSpPr>
        <p:spPr>
          <a:xfrm>
            <a:off x="9047074" y="456925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signal, quantized, error</a:t>
            </a:r>
            <a:endParaRPr lang="en-US" sz="1400" dirty="0"/>
          </a:p>
        </p:txBody>
      </p:sp>
      <p:sp>
        <p:nvSpPr>
          <p:cNvPr id="18" name="Task bar"/>
          <p:cNvSpPr/>
          <p:nvPr/>
        </p:nvSpPr>
        <p:spPr>
          <a:xfrm>
            <a:off x="812902" y="541050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goal: save samples to a file, load them back, quantize and compare three plots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TASK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Write the samples to a file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4919472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No data file? Create one.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fopen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opens signal.txt for writing (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'w'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),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fprintf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writes each sample on its own line and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fclose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closes the file.</a:t>
            </a:r>
            <a:endParaRPr lang="en-US" sz="2000" dirty="0"/>
          </a:p>
        </p:txBody>
      </p:sp>
      <p:sp>
        <p:nvSpPr>
          <p:cNvPr id="6" name="Code box"/>
          <p:cNvSpPr/>
          <p:nvPr/>
        </p:nvSpPr>
        <p:spPr>
          <a:xfrm>
            <a:off x="5993892" y="2210105"/>
            <a:ext cx="5384902" cy="2976880"/>
          </a:xfrm>
          <a:prstGeom prst="roundRect">
            <a:avLst>
              <a:gd name="adj" fmla="val 3072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7" name="Code code"/>
          <p:cNvSpPr txBox="1"/>
          <p:nvPr/>
        </p:nvSpPr>
        <p:spPr>
          <a:xfrm>
            <a:off x="6268212" y="2438705"/>
            <a:ext cx="4836262" cy="251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80"/>
              </a:lnSpc>
              <a:buNone/>
            </a:pPr>
            <a:r>
              <a:rPr lang="en-US" sz="13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signalFrequency=100;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3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samplingRate=8000;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3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samplingPeriod=1/samplingRate;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3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timeVector=0:samplingPeriod:.25;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3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originalSignal= 4.5*sin(2*pi*100*timeVector);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3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fileId=fopen('signal.txt','w');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3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fprintf(fileId,'%f\n',originalSignal);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3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fclose(fileId);</a:t>
            </a:r>
            <a:endParaRPr lang="en-US" sz="1600" dirty="0"/>
          </a:p>
        </p:txBody>
      </p:sp>
      <p:sp>
        <p:nvSpPr>
          <p:cNvPr id="8" name="Task bar"/>
          <p:cNvSpPr/>
          <p:nvPr/>
        </p:nvSpPr>
        <p:spPr>
          <a:xfrm>
            <a:off x="812902" y="546130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create signal.txt, then open it in the Current Folder and check that it holds 2001 lines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TASK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Load the file back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4919472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reads the numbers in signal.txt into the vector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speechSignal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 The file holds only values, so rebuild the time axis from the number of samples and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samplingRate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6" name="Code box"/>
          <p:cNvSpPr/>
          <p:nvPr/>
        </p:nvSpPr>
        <p:spPr>
          <a:xfrm>
            <a:off x="5993892" y="2210105"/>
            <a:ext cx="5384902" cy="1638300"/>
          </a:xfrm>
          <a:prstGeom prst="roundRect">
            <a:avLst>
              <a:gd name="adj" fmla="val 5581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7" name="Code code"/>
          <p:cNvSpPr txBox="1"/>
          <p:nvPr/>
        </p:nvSpPr>
        <p:spPr>
          <a:xfrm>
            <a:off x="6268212" y="2438705"/>
            <a:ext cx="4836262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samplingRate=8000;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speechSignal=load('signal.txt');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timeVector=(0:length(speechSignal)-1)/samplingRate;</a:t>
            </a:r>
            <a:endParaRPr lang="en-US" sz="2000" dirty="0"/>
          </a:p>
        </p:txBody>
      </p:sp>
      <p:sp>
        <p:nvSpPr>
          <p:cNvPr id="8" name="Task bar"/>
          <p:cNvSpPr/>
          <p:nvPr/>
        </p:nvSpPr>
        <p:spPr>
          <a:xfrm>
            <a:off x="812902" y="412272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load signal.txt into speechSignal and check that length(speechSignal) is 2001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TASK 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Quantize the loaded signal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4919472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same rule as before, with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speechSignal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in place of originalSignal. Only the input name changes.</a:t>
            </a:r>
            <a:endParaRPr lang="en-US" sz="2000" dirty="0"/>
          </a:p>
        </p:txBody>
      </p:sp>
      <p:sp>
        <p:nvSpPr>
          <p:cNvPr id="6" name="Code box"/>
          <p:cNvSpPr/>
          <p:nvPr/>
        </p:nvSpPr>
        <p:spPr>
          <a:xfrm>
            <a:off x="5993892" y="2210105"/>
            <a:ext cx="5384902" cy="2583180"/>
          </a:xfrm>
          <a:prstGeom prst="roundRect">
            <a:avLst>
              <a:gd name="adj" fmla="val 3540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7" name="Code code"/>
          <p:cNvSpPr txBox="1"/>
          <p:nvPr/>
        </p:nvSpPr>
        <p:spPr>
          <a:xfrm>
            <a:off x="6268212" y="2438705"/>
            <a:ext cx="483626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90"/>
              </a:lnSpc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maxVoltage=5;</a:t>
            </a:r>
            <a:endParaRPr lang="en-US" sz="1800" dirty="0"/>
          </a:p>
          <a:p>
            <a:pPr indent="0" marL="0">
              <a:lnSpc>
                <a:spcPts val="2790"/>
              </a:lnSpc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minVoltage=-5;</a:t>
            </a:r>
            <a:endParaRPr lang="en-US" sz="1800" dirty="0"/>
          </a:p>
          <a:p>
            <a:pPr indent="0" marL="0">
              <a:lnSpc>
                <a:spcPts val="2790"/>
              </a:lnSpc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numLevels=2^4;</a:t>
            </a:r>
            <a:endParaRPr lang="en-US" sz="1800" dirty="0"/>
          </a:p>
          <a:p>
            <a:pPr indent="0" marL="0">
              <a:lnSpc>
                <a:spcPts val="2790"/>
              </a:lnSpc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stepSize=(maxVoltage-minVoltage)/numLevels;</a:t>
            </a:r>
            <a:endParaRPr lang="en-US" sz="1800" dirty="0"/>
          </a:p>
          <a:p>
            <a:pPr indent="0" marL="0">
              <a:lnSpc>
                <a:spcPts val="2790"/>
              </a:lnSpc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levelIndex=round((speechSignal-minVoltage)/stepSize);</a:t>
            </a:r>
            <a:endParaRPr lang="en-US" sz="1800" dirty="0"/>
          </a:p>
          <a:p>
            <a:pPr indent="0" marL="0">
              <a:lnSpc>
                <a:spcPts val="2790"/>
              </a:lnSpc>
              <a:buNone/>
            </a:pPr>
            <a:r>
              <a:rPr lang="en-US" sz="115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quantizedSignal=minVoltage+levelIndex*stepSize;</a:t>
            </a:r>
            <a:endParaRPr lang="en-US" sz="1800" dirty="0"/>
          </a:p>
        </p:txBody>
      </p:sp>
      <p:sp>
        <p:nvSpPr>
          <p:cNvPr id="8" name="Task bar"/>
          <p:cNvSpPr/>
          <p:nvPr/>
        </p:nvSpPr>
        <p:spPr>
          <a:xfrm>
            <a:off x="812902" y="506760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quantize speechSignal and check that quantizedSignal has 2001 values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TASK 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Plot with subplot and stairs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4919472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subplot(3,1,k)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makes a grid of 3 rows and 1 column and selects row k.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draws the original;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stairs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draws the quantized signal as steps.</a:t>
            </a:r>
            <a:endParaRPr lang="en-US" sz="2000" dirty="0"/>
          </a:p>
        </p:txBody>
      </p:sp>
      <p:sp>
        <p:nvSpPr>
          <p:cNvPr id="6" name="Code box"/>
          <p:cNvSpPr/>
          <p:nvPr/>
        </p:nvSpPr>
        <p:spPr>
          <a:xfrm>
            <a:off x="5993892" y="2210105"/>
            <a:ext cx="5384902" cy="2976880"/>
          </a:xfrm>
          <a:prstGeom prst="roundRect">
            <a:avLst>
              <a:gd name="adj" fmla="val 3072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7" name="Code code"/>
          <p:cNvSpPr txBox="1"/>
          <p:nvPr/>
        </p:nvSpPr>
        <p:spPr>
          <a:xfrm>
            <a:off x="6268212" y="2438705"/>
            <a:ext cx="4836262" cy="251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subplot(3,1,1)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plot(timeVector,speechSignal);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xlabel('time(s)');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ylabel(' original Speech');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subplot(3,1,2)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stairs(timeVector,quantizedSignal);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xlabel('time(s)');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ylabel(' Quantized Speech');</a:t>
            </a:r>
            <a:endParaRPr lang="en-US" sz="1600" dirty="0"/>
          </a:p>
        </p:txBody>
      </p:sp>
      <p:sp>
        <p:nvSpPr>
          <p:cNvPr id="8" name="Task bar"/>
          <p:cNvSpPr/>
          <p:nvPr/>
        </p:nvSpPr>
        <p:spPr>
          <a:xfrm>
            <a:off x="812902" y="546130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plot the original in row 1 and the quantized signal in row 2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TASK 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Plot the quantization error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5577840" cy="80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Take the absolute error and draw it in the third row to finish the figure.</a:t>
            </a:r>
            <a:endParaRPr lang="en-US" sz="2000" dirty="0"/>
          </a:p>
        </p:txBody>
      </p:sp>
      <p:sp>
        <p:nvSpPr>
          <p:cNvPr id="6" name="Code box"/>
          <p:cNvSpPr/>
          <p:nvPr/>
        </p:nvSpPr>
        <p:spPr>
          <a:xfrm>
            <a:off x="812902" y="3149905"/>
            <a:ext cx="5577840" cy="2032000"/>
          </a:xfrm>
          <a:prstGeom prst="roundRect">
            <a:avLst>
              <a:gd name="adj" fmla="val 4500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7" name="Code code"/>
          <p:cNvSpPr txBox="1"/>
          <p:nvPr/>
        </p:nvSpPr>
        <p:spPr>
          <a:xfrm>
            <a:off x="1087222" y="3378505"/>
            <a:ext cx="50292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8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quantizationError=abs(speechSignal-quantizedSignal);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subplot(3,1,3)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stairs(timeVector,quantizationError);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xlabel('time(s)');</a:t>
            </a:r>
            <a:endParaRPr lang="en-US" sz="1600" dirty="0"/>
          </a:p>
          <a:p>
            <a:pPr indent="0" marL="0">
              <a:lnSpc>
                <a:spcPts val="248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ylabel(' Quantized Error');</a:t>
            </a:r>
            <a:endParaRPr lang="en-US" sz="1600" dirty="0"/>
          </a:p>
        </p:txBody>
      </p:sp>
      <p:pic>
        <p:nvPicPr>
          <p:cNvPr id="8" name="Figure" descr="Plot the quantization error pl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7814" y="2210105"/>
            <a:ext cx="4494628" cy="3246120"/>
          </a:xfrm>
          <a:prstGeom prst="rect">
            <a:avLst/>
          </a:prstGeom>
        </p:spPr>
      </p:pic>
      <p:sp>
        <p:nvSpPr>
          <p:cNvPr id="9" name="Task bar"/>
          <p:cNvSpPr/>
          <p:nvPr/>
        </p:nvSpPr>
        <p:spPr>
          <a:xfrm>
            <a:off x="812902" y="573054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add the error plot in row 3 and check that it never goes above 0.3125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FULL EXAMPLE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Example 2.14: the full script</a:t>
            </a:r>
            <a:endParaRPr lang="en-US" sz="3600" dirty="0"/>
          </a:p>
        </p:txBody>
      </p:sp>
      <p:sp>
        <p:nvSpPr>
          <p:cNvPr id="5" name="Code box 1"/>
          <p:cNvSpPr/>
          <p:nvPr/>
        </p:nvSpPr>
        <p:spPr>
          <a:xfrm>
            <a:off x="812902" y="2210105"/>
            <a:ext cx="4700000" cy="2937510"/>
          </a:xfrm>
          <a:prstGeom prst="roundRect">
            <a:avLst>
              <a:gd name="adj" fmla="val 3113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6" name="Code 1"/>
          <p:cNvSpPr txBox="1"/>
          <p:nvPr/>
        </p:nvSpPr>
        <p:spPr>
          <a:xfrm>
            <a:off x="1087222" y="2438705"/>
            <a:ext cx="4150000" cy="2480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samplingRate=8000;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speechSignal=load('signal.txt');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timeVector=(0:length(speechSignal)-1)/samplingRate;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maxVoltage=5;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minVoltage=-5;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numLevels=2^4;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stepSize=(maxVoltage-minVoltage)/numLevels;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levelIndex=round((speechSignal-minVoltage)/stepSize);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quantizedSignal=minVoltage+levelIndex*stepSize;</a:t>
            </a:r>
            <a:endParaRPr lang="en-US" sz="1400" dirty="0"/>
          </a:p>
        </p:txBody>
      </p:sp>
      <p:sp>
        <p:nvSpPr>
          <p:cNvPr id="7" name="Code box 2"/>
          <p:cNvSpPr/>
          <p:nvPr/>
        </p:nvSpPr>
        <p:spPr>
          <a:xfrm>
            <a:off x="5762902" y="2210105"/>
            <a:ext cx="5616806" cy="4039870"/>
          </a:xfrm>
          <a:prstGeom prst="roundRect">
            <a:avLst>
              <a:gd name="adj" fmla="val 2263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8" name="Code 2"/>
          <p:cNvSpPr txBox="1"/>
          <p:nvPr/>
        </p:nvSpPr>
        <p:spPr>
          <a:xfrm>
            <a:off x="6037222" y="2438705"/>
            <a:ext cx="5066806" cy="3582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subplot(3,1,1)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plot(timeVector,speechSignal);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xlabel('time(s)');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ylabel(' original Speech');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subplot(3,1,2)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stairs(timeVector,quantizedSignal);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xlabel('time(s)');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ylabel(' Quantized Speech');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quantizationError=abs(speechSignal-quantizedSignal);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subplot(3,1,3)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stairs(timeVector,quantizationError);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xlabel('time(s)');</a:t>
            </a:r>
            <a:endParaRPr lang="en-US" sz="1400" dirty="0"/>
          </a:p>
          <a:p>
            <a:pPr indent="0" marL="0">
              <a:lnSpc>
                <a:spcPts val="217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ylabel(' Quantized Error');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TASK 6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Part c: SNR from the file data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4919472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same power ratio as in Example 2.13, now computed from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speechSignal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and the absolute error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quantizationError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then converted to decibels.</a:t>
            </a:r>
            <a:endParaRPr lang="en-US" sz="2000" dirty="0"/>
          </a:p>
        </p:txBody>
      </p:sp>
      <p:sp>
        <p:nvSpPr>
          <p:cNvPr id="6" name="Code box"/>
          <p:cNvSpPr/>
          <p:nvPr/>
        </p:nvSpPr>
        <p:spPr>
          <a:xfrm>
            <a:off x="5993892" y="2210105"/>
            <a:ext cx="5384902" cy="2032000"/>
          </a:xfrm>
          <a:prstGeom prst="roundRect">
            <a:avLst>
              <a:gd name="adj" fmla="val 4500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7" name="Code code"/>
          <p:cNvSpPr txBox="1"/>
          <p:nvPr/>
        </p:nvSpPr>
        <p:spPr>
          <a:xfrm>
            <a:off x="6268212" y="2438705"/>
            <a:ext cx="4836262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signalPower = mean(speechSignal.^2);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errorPower = mean(quantizationError.^2);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snrRatio = signalPower / errorPower;</a:t>
            </a:r>
            <a:endParaRPr lang="en-US" sz="20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snrDb = 10 * log10(snrRatio);</a:t>
            </a:r>
            <a:endParaRPr lang="en-US" sz="2000" dirty="0"/>
          </a:p>
        </p:txBody>
      </p:sp>
      <p:sp>
        <p:nvSpPr>
          <p:cNvPr id="8" name="Task bar"/>
          <p:cNvSpPr/>
          <p:nvPr/>
        </p:nvSpPr>
        <p:spPr>
          <a:xfrm>
            <a:off x="812902" y="451642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compute signalPower, errorPower, snrRatio and snrDb, and check that snrDb is about 25.78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TASK 7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Print the result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10566806" cy="80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Use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fprintf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to report the SNR. The result matches Example 2.13 because both programs quantize the same 100 Hz sine with 4 bits.</a:t>
            </a:r>
            <a:endParaRPr lang="en-US" sz="2000" dirty="0"/>
          </a:p>
        </p:txBody>
      </p:sp>
      <p:sp>
        <p:nvSpPr>
          <p:cNvPr id="6" name="Code box"/>
          <p:cNvSpPr/>
          <p:nvPr/>
        </p:nvSpPr>
        <p:spPr>
          <a:xfrm>
            <a:off x="812902" y="3195625"/>
            <a:ext cx="10566806" cy="811530"/>
          </a:xfrm>
          <a:prstGeom prst="roundRect">
            <a:avLst>
              <a:gd name="adj" fmla="val 11268"/>
            </a:avLst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p/>
        </p:txBody>
      </p:sp>
      <p:sp>
        <p:nvSpPr>
          <p:cNvPr id="7" name="Code code"/>
          <p:cNvSpPr txBox="1"/>
          <p:nvPr/>
        </p:nvSpPr>
        <p:spPr>
          <a:xfrm>
            <a:off x="1087222" y="3424225"/>
            <a:ext cx="1001816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fprintf('The SNR due to quantization is: %.2f dB\n', snrDb);</a:t>
            </a:r>
            <a:endParaRPr lang="en-US" sz="1800" dirty="0"/>
          </a:p>
        </p:txBody>
      </p:sp>
      <p:sp>
        <p:nvSpPr>
          <p:cNvPr id="8" name="Output box"/>
          <p:cNvSpPr/>
          <p:nvPr/>
        </p:nvSpPr>
        <p:spPr>
          <a:xfrm>
            <a:off x="812902" y="4190035"/>
            <a:ext cx="1056680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  <p:txBody>
          <a:bodyPr/>
          <a:p/>
        </p:txBody>
      </p:sp>
      <p:sp>
        <p:nvSpPr>
          <p:cNvPr id="9" name="Output text"/>
          <p:cNvSpPr txBox="1"/>
          <p:nvPr/>
        </p:nvSpPr>
        <p:spPr>
          <a:xfrm>
            <a:off x="1087222" y="4190035"/>
            <a:ext cx="100181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Window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SNR due to quantization is: 25.78 dB</a:t>
            </a:r>
            <a:endParaRPr lang="en-US" sz="1400" dirty="0"/>
          </a:p>
        </p:txBody>
      </p:sp>
      <p:sp>
        <p:nvSpPr>
          <p:cNvPr id="10" name="Task bar"/>
          <p:cNvSpPr/>
          <p:nvPr/>
        </p:nvSpPr>
        <p:spPr>
          <a:xfrm>
            <a:off x="812902" y="5058715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run the whole script and check that the Command Window prints 25.78 dB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FURTHER PRACTICE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More bits, less error</a:t>
            </a:r>
            <a:endParaRPr lang="en-US" sz="3600" dirty="0"/>
          </a:p>
        </p:txBody>
      </p:sp>
      <p:sp>
        <p:nvSpPr>
          <p:cNvPr id="5" name="Body"/>
          <p:cNvSpPr txBox="1"/>
          <p:nvPr/>
        </p:nvSpPr>
        <p:spPr>
          <a:xfrm>
            <a:off x="812902" y="2210105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Change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numLevels=2^4;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to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numLevels=2^8;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and run again. Each extra bit adds about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6 dB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of SNR.</a:t>
            </a:r>
            <a:endParaRPr lang="en-US" sz="2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394960" y="201168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ask bar"/>
          <p:cNvSpPr/>
          <p:nvPr/>
        </p:nvSpPr>
        <p:spPr>
          <a:xfrm>
            <a:off x="812902" y="5440680"/>
            <a:ext cx="10566806" cy="726034"/>
          </a:xfrm>
          <a:prstGeom prst="roundRect">
            <a:avLst>
              <a:gd name="adj" fmla="val 12594"/>
            </a:avLst>
          </a:prstGeom>
          <a:solidFill>
            <a:schemeClr val="accent1"/>
          </a:solidFill>
          <a:ln/>
        </p:spPr>
        <p:txBody>
          <a:bodyPr wrap="square" lIns="279400" tIns="0" rIns="27940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set numLevels=2^8, rerun the script and check that the SNR is about 49.52 dB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812902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FURTHER PRACTICE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1401775"/>
            <a:ext cx="105668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reference: functions used</a:t>
            </a:r>
            <a:endParaRPr lang="en-US" sz="3600" dirty="0"/>
          </a:p>
        </p:txBody>
      </p:sp>
      <p:sp>
        <p:nvSpPr>
          <p:cNvPr id="5" name="Ref card 1"/>
          <p:cNvSpPr/>
          <p:nvPr/>
        </p:nvSpPr>
        <p:spPr>
          <a:xfrm>
            <a:off x="812902" y="2210105"/>
            <a:ext cx="51480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  <p:txBody>
          <a:bodyPr/>
          <a:p/>
        </p:txBody>
      </p:sp>
      <p:sp>
        <p:nvSpPr>
          <p:cNvPr id="6" name="Ref name 1"/>
          <p:cNvSpPr txBox="1"/>
          <p:nvPr/>
        </p:nvSpPr>
        <p:spPr>
          <a:xfrm>
            <a:off x="1041502" y="2210105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round(value)</a:t>
            </a:r>
            <a:endParaRPr lang="en-US" sz="1400" dirty="0"/>
          </a:p>
        </p:txBody>
      </p:sp>
      <p:sp>
        <p:nvSpPr>
          <p:cNvPr id="7" name="Ref text 1"/>
          <p:cNvSpPr txBox="1"/>
          <p:nvPr/>
        </p:nvSpPr>
        <p:spPr>
          <a:xfrm>
            <a:off x="3007462" y="2210105"/>
            <a:ext cx="2770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rounds each value to the nearest integer</a:t>
            </a:r>
            <a:endParaRPr lang="en-US" sz="1400" dirty="0"/>
          </a:p>
        </p:txBody>
      </p:sp>
      <p:sp>
        <p:nvSpPr>
          <p:cNvPr id="8" name="Ref card 2"/>
          <p:cNvSpPr/>
          <p:nvPr/>
        </p:nvSpPr>
        <p:spPr>
          <a:xfrm>
            <a:off x="6231636" y="2210105"/>
            <a:ext cx="51480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  <p:txBody>
          <a:bodyPr/>
          <a:p/>
        </p:txBody>
      </p:sp>
      <p:sp>
        <p:nvSpPr>
          <p:cNvPr id="9" name="Ref name 2"/>
          <p:cNvSpPr txBox="1"/>
          <p:nvPr/>
        </p:nvSpPr>
        <p:spPr>
          <a:xfrm>
            <a:off x="6460236" y="2210105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mean(values)</a:t>
            </a:r>
            <a:endParaRPr lang="en-US" sz="1400" dirty="0"/>
          </a:p>
        </p:txBody>
      </p:sp>
      <p:sp>
        <p:nvSpPr>
          <p:cNvPr id="10" name="Ref text 2"/>
          <p:cNvSpPr txBox="1"/>
          <p:nvPr/>
        </p:nvSpPr>
        <p:spPr>
          <a:xfrm>
            <a:off x="8426196" y="2210105"/>
            <a:ext cx="2770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of the elements of values</a:t>
            </a:r>
            <a:endParaRPr lang="en-US" sz="1400" dirty="0"/>
          </a:p>
        </p:txBody>
      </p:sp>
      <p:sp>
        <p:nvSpPr>
          <p:cNvPr id="11" name="Ref card 3"/>
          <p:cNvSpPr/>
          <p:nvPr/>
        </p:nvSpPr>
        <p:spPr>
          <a:xfrm>
            <a:off x="812902" y="3115361"/>
            <a:ext cx="51480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  <p:txBody>
          <a:bodyPr/>
          <a:p/>
        </p:txBody>
      </p:sp>
      <p:sp>
        <p:nvSpPr>
          <p:cNvPr id="12" name="Ref name 3"/>
          <p:cNvSpPr txBox="1"/>
          <p:nvPr/>
        </p:nvSpPr>
        <p:spPr>
          <a:xfrm>
            <a:off x="1041502" y="3115361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log10(values)</a:t>
            </a:r>
            <a:endParaRPr lang="en-US" sz="1400" dirty="0"/>
          </a:p>
        </p:txBody>
      </p:sp>
      <p:sp>
        <p:nvSpPr>
          <p:cNvPr id="13" name="Ref text 3"/>
          <p:cNvSpPr txBox="1"/>
          <p:nvPr/>
        </p:nvSpPr>
        <p:spPr>
          <a:xfrm>
            <a:off x="3007462" y="3115361"/>
            <a:ext cx="2770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base-10 logarithm, used for decibels</a:t>
            </a:r>
            <a:endParaRPr lang="en-US" sz="1400" dirty="0"/>
          </a:p>
        </p:txBody>
      </p:sp>
      <p:sp>
        <p:nvSpPr>
          <p:cNvPr id="14" name="Ref card 4"/>
          <p:cNvSpPr/>
          <p:nvPr/>
        </p:nvSpPr>
        <p:spPr>
          <a:xfrm>
            <a:off x="6231636" y="3115361"/>
            <a:ext cx="51480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  <p:txBody>
          <a:bodyPr/>
          <a:p/>
        </p:txBody>
      </p:sp>
      <p:sp>
        <p:nvSpPr>
          <p:cNvPr id="15" name="Ref name 4"/>
          <p:cNvSpPr txBox="1"/>
          <p:nvPr/>
        </p:nvSpPr>
        <p:spPr>
          <a:xfrm>
            <a:off x="6460236" y="3115361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fprintf</a:t>
            </a:r>
            <a:endParaRPr lang="en-US" sz="1400" dirty="0"/>
          </a:p>
        </p:txBody>
      </p:sp>
      <p:sp>
        <p:nvSpPr>
          <p:cNvPr id="16" name="Ref text 4"/>
          <p:cNvSpPr txBox="1"/>
          <p:nvPr/>
        </p:nvSpPr>
        <p:spPr>
          <a:xfrm>
            <a:off x="8426196" y="3115361"/>
            <a:ext cx="2770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prints formatted text and numbers</a:t>
            </a:r>
            <a:endParaRPr lang="en-US" sz="1400" dirty="0"/>
          </a:p>
        </p:txBody>
      </p:sp>
      <p:sp>
        <p:nvSpPr>
          <p:cNvPr id="17" name="Ref card 5"/>
          <p:cNvSpPr/>
          <p:nvPr/>
        </p:nvSpPr>
        <p:spPr>
          <a:xfrm>
            <a:off x="812902" y="4020617"/>
            <a:ext cx="51480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  <p:txBody>
          <a:bodyPr/>
          <a:p/>
        </p:txBody>
      </p:sp>
      <p:sp>
        <p:nvSpPr>
          <p:cNvPr id="18" name="Ref name 5"/>
          <p:cNvSpPr txBox="1"/>
          <p:nvPr/>
        </p:nvSpPr>
        <p:spPr>
          <a:xfrm>
            <a:off x="1041502" y="4020617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fopen / fclose</a:t>
            </a:r>
            <a:endParaRPr lang="en-US" sz="1400" dirty="0"/>
          </a:p>
        </p:txBody>
      </p:sp>
      <p:sp>
        <p:nvSpPr>
          <p:cNvPr id="19" name="Ref text 5"/>
          <p:cNvSpPr txBox="1"/>
          <p:nvPr/>
        </p:nvSpPr>
        <p:spPr>
          <a:xfrm>
            <a:off x="3007462" y="4020617"/>
            <a:ext cx="2770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and close a file ('w' = write)</a:t>
            </a:r>
            <a:endParaRPr lang="en-US" sz="1400" dirty="0"/>
          </a:p>
        </p:txBody>
      </p:sp>
      <p:sp>
        <p:nvSpPr>
          <p:cNvPr id="20" name="Ref card 6"/>
          <p:cNvSpPr/>
          <p:nvPr/>
        </p:nvSpPr>
        <p:spPr>
          <a:xfrm>
            <a:off x="6231636" y="4020617"/>
            <a:ext cx="51480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  <p:txBody>
          <a:bodyPr/>
          <a:p/>
        </p:txBody>
      </p:sp>
      <p:sp>
        <p:nvSpPr>
          <p:cNvPr id="21" name="Ref name 6"/>
          <p:cNvSpPr txBox="1"/>
          <p:nvPr/>
        </p:nvSpPr>
        <p:spPr>
          <a:xfrm>
            <a:off x="6460236" y="4020617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load('f.txt')</a:t>
            </a:r>
            <a:endParaRPr lang="en-US" sz="1400" dirty="0"/>
          </a:p>
        </p:txBody>
      </p:sp>
      <p:sp>
        <p:nvSpPr>
          <p:cNvPr id="22" name="Ref text 6"/>
          <p:cNvSpPr txBox="1"/>
          <p:nvPr/>
        </p:nvSpPr>
        <p:spPr>
          <a:xfrm>
            <a:off x="8426196" y="4020617"/>
            <a:ext cx="2770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reads numbers from a text file</a:t>
            </a:r>
            <a:endParaRPr lang="en-US" sz="1400" dirty="0"/>
          </a:p>
        </p:txBody>
      </p:sp>
      <p:sp>
        <p:nvSpPr>
          <p:cNvPr id="23" name="Ref card 7"/>
          <p:cNvSpPr/>
          <p:nvPr/>
        </p:nvSpPr>
        <p:spPr>
          <a:xfrm>
            <a:off x="812902" y="4925873"/>
            <a:ext cx="51480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  <p:txBody>
          <a:bodyPr/>
          <a:p/>
        </p:txBody>
      </p:sp>
      <p:sp>
        <p:nvSpPr>
          <p:cNvPr id="24" name="Ref name 7"/>
          <p:cNvSpPr txBox="1"/>
          <p:nvPr/>
        </p:nvSpPr>
        <p:spPr>
          <a:xfrm>
            <a:off x="1041502" y="4925873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subplot(rows,cols,position)</a:t>
            </a:r>
            <a:endParaRPr lang="en-US" sz="1400" dirty="0"/>
          </a:p>
        </p:txBody>
      </p:sp>
      <p:sp>
        <p:nvSpPr>
          <p:cNvPr id="25" name="Ref text 7"/>
          <p:cNvSpPr txBox="1"/>
          <p:nvPr/>
        </p:nvSpPr>
        <p:spPr>
          <a:xfrm>
            <a:off x="3007462" y="4925873"/>
            <a:ext cx="2770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selects plot position of a rows-by-cols grid</a:t>
            </a:r>
            <a:endParaRPr lang="en-US" sz="1400" dirty="0"/>
          </a:p>
        </p:txBody>
      </p:sp>
      <p:sp>
        <p:nvSpPr>
          <p:cNvPr id="26" name="Ref card 8"/>
          <p:cNvSpPr/>
          <p:nvPr/>
        </p:nvSpPr>
        <p:spPr>
          <a:xfrm>
            <a:off x="6231636" y="4925873"/>
            <a:ext cx="51480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  <p:txBody>
          <a:bodyPr/>
          <a:p/>
        </p:txBody>
      </p:sp>
      <p:sp>
        <p:nvSpPr>
          <p:cNvPr id="27" name="Ref name 8"/>
          <p:cNvSpPr txBox="1"/>
          <p:nvPr/>
        </p:nvSpPr>
        <p:spPr>
          <a:xfrm>
            <a:off x="6460236" y="4925873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stairs(timeVector,values)</a:t>
            </a:r>
            <a:endParaRPr lang="en-US" sz="1400" dirty="0"/>
          </a:p>
        </p:txBody>
      </p:sp>
      <p:sp>
        <p:nvSpPr>
          <p:cNvPr id="28" name="Ref text 8"/>
          <p:cNvSpPr txBox="1"/>
          <p:nvPr/>
        </p:nvSpPr>
        <p:spPr>
          <a:xfrm>
            <a:off x="8426196" y="4925873"/>
            <a:ext cx="2770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draws a staircase (sample-and-hold)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812902" y="2114093"/>
            <a:ext cx="10566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MATLAB ONRAMP - SECTION THREE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902" y="2654503"/>
            <a:ext cx="105668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2"/>
                </a:solidFill>
              </a:rPr>
              <a:t>Thank You</a:t>
            </a:r>
            <a:endParaRPr lang="en-US" sz="6000" dirty="0"/>
          </a:p>
        </p:txBody>
      </p:sp>
      <p:sp>
        <p:nvSpPr>
          <p:cNvPr id="4" name="Subtitle"/>
          <p:cNvSpPr txBox="1"/>
          <p:nvPr/>
        </p:nvSpPr>
        <p:spPr>
          <a:xfrm>
            <a:off x="812902" y="3746297"/>
            <a:ext cx="10566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Any questions?</a:t>
            </a:r>
            <a:endParaRPr lang="en-US" sz="2400" dirty="0"/>
          </a:p>
        </p:txBody>
      </p:sp>
      <p:sp>
        <p:nvSpPr>
          <p:cNvPr id="5" name="Supervisor"/>
          <p:cNvSpPr txBox="1"/>
          <p:nvPr/>
        </p:nvSpPr>
        <p:spPr>
          <a:xfrm>
            <a:off x="812902" y="5131613"/>
            <a:ext cx="105668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Under the supervision of </a:t>
            </a:r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DR. Lobna Abouelmagd</a:t>
            </a:r>
            <a:endParaRPr lang="en-US" sz="1800" dirty="0"/>
          </a:p>
        </p:txBody>
      </p:sp>
      <p:sp>
        <p:nvSpPr>
          <p:cNvPr id="6" name="Preparer"/>
          <p:cNvSpPr txBox="1"/>
          <p:nvPr/>
        </p:nvSpPr>
        <p:spPr>
          <a:xfrm>
            <a:off x="812902" y="5552237"/>
            <a:ext cx="105668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Prepared by </a:t>
            </a:r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ENG. Moamen Yasser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LAB Section Three">
  <a:themeElements>
    <a:clrScheme name="MATLAB Section Three">
      <a:dk1>
        <a:srgbClr val="16202E"/>
      </a:dk1>
      <a:lt1>
        <a:srgbClr val="F4F1EA"/>
      </a:lt1>
      <a:dk2>
        <a:srgbClr val="0F1C2E"/>
      </a:dk2>
      <a:lt2>
        <a:srgbClr val="E8EEF5"/>
      </a:lt2>
      <a:accent1>
        <a:srgbClr val="1C5FA8"/>
      </a:accent1>
      <a:accent2>
        <a:srgbClr val="F08A4B"/>
      </a:accent2>
      <a:accent3>
        <a:srgbClr val="B44A12"/>
      </a:accent3>
      <a:accent4>
        <a:srgbClr val="B9C7D8"/>
      </a:accent4>
      <a:accent5>
        <a:srgbClr val="2E7D5B"/>
      </a:accent5>
      <a:accent6>
        <a:srgbClr val="4B5A6E"/>
      </a:accent6>
      <a:hlink>
        <a:srgbClr val="1C5FA8"/>
      </a:hlink>
      <a:folHlink>
        <a:srgbClr val="4B5A6E"/>
      </a:folHlink>
    </a:clrScheme>
    <a:fontScheme name="MATLAB Section Thre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 Onramp - Section Three</dc:title>
  <dc:subject>PptxGenJS Presentation</dc:subject>
  <dc:creator>ENG. Moamen Yasser</dc:creator>
  <cp:lastModifiedBy>ENG. Moamen Yasser</cp:lastModifiedBy>
  <cp:revision>1</cp:revision>
  <dcterms:created xsi:type="dcterms:W3CDTF">2026-10-20T22:18:26Z</dcterms:created>
  <dcterms:modified xsi:type="dcterms:W3CDTF">2026-10-20T22:18:26Z</dcterms:modified>
</cp:coreProperties>
</file>