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7" r:id="rId78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5" r:id="rId96"/>
    <p:sldId id="344" r:id="rId95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  
  
  
  
  
  
  
  
  
  
  
  
  
  
  
  
  
  
  
  
  <Relationship Id="rId55" Type="http://schemas.openxmlformats.org/officeDocument/2006/relationships/slide" Target="slides/slide49.xml"/>
  <Relationship Id="rId56" Type="http://schemas.openxmlformats.org/officeDocument/2006/relationships/slide" Target="slides/slide50.xml"/>
  <Relationship Id="rId57" Type="http://schemas.openxmlformats.org/officeDocument/2006/relationships/slide" Target="slides/slide51.xml"/>
  <Relationship Id="rId58" Type="http://schemas.openxmlformats.org/officeDocument/2006/relationships/slide" Target="slides/slide52.xml"/>
  <Relationship Id="rId59" Type="http://schemas.openxmlformats.org/officeDocument/2006/relationships/slide" Target="slides/slide53.xml"/>
  <Relationship Id="rId60" Type="http://schemas.openxmlformats.org/officeDocument/2006/relationships/slide" Target="slides/slide54.xml"/>
  <Relationship Id="rId61" Type="http://schemas.openxmlformats.org/officeDocument/2006/relationships/slide" Target="slides/slide55.xml"/>
  <Relationship Id="rId62" Type="http://schemas.openxmlformats.org/officeDocument/2006/relationships/slide" Target="slides/slide56.xml"/>
  <Relationship Id="rId63" Type="http://schemas.openxmlformats.org/officeDocument/2006/relationships/slide" Target="slides/slide57.xml"/>
  <Relationship Id="rId64" Type="http://schemas.openxmlformats.org/officeDocument/2006/relationships/slide" Target="slides/slide58.xml"/>
  <Relationship Id="rId65" Type="http://schemas.openxmlformats.org/officeDocument/2006/relationships/slide" Target="slides/slide59.xml"/>
  <Relationship Id="rId66" Type="http://schemas.openxmlformats.org/officeDocument/2006/relationships/slide" Target="slides/slide60.xml"/>
  <Relationship Id="rId67" Type="http://schemas.openxmlformats.org/officeDocument/2006/relationships/slide" Target="slides/slide61.xml"/>
  <Relationship Id="rId68" Type="http://schemas.openxmlformats.org/officeDocument/2006/relationships/slide" Target="slides/slide62.xml"/>
  <Relationship Id="rId69" Type="http://schemas.openxmlformats.org/officeDocument/2006/relationships/slide" Target="slides/slide63.xml"/>
  <Relationship Id="rId70" Type="http://schemas.openxmlformats.org/officeDocument/2006/relationships/slide" Target="slides/slide64.xml"/>
  <Relationship Id="rId71" Type="http://schemas.openxmlformats.org/officeDocument/2006/relationships/slide" Target="slides/slide65.xml"/>
  <Relationship Id="rId72" Type="http://schemas.openxmlformats.org/officeDocument/2006/relationships/slide" Target="slides/slide66.xml"/>
  <Relationship Id="rId73" Type="http://schemas.openxmlformats.org/officeDocument/2006/relationships/slide" Target="slides/slide67.xml"/>
  <Relationship Id="rId74" Type="http://schemas.openxmlformats.org/officeDocument/2006/relationships/slide" Target="slides/slide68.xml"/>
  <Relationship Id="rId75" Type="http://schemas.openxmlformats.org/officeDocument/2006/relationships/slide" Target="slides/slide69.xml"/>
  <Relationship Id="rId76" Type="http://schemas.openxmlformats.org/officeDocument/2006/relationships/slide" Target="slides/slide70.xml"/>
  <Relationship Id="rId77" Type="http://schemas.openxmlformats.org/officeDocument/2006/relationships/slide" Target="slides/slide71.xml"/>
  <Relationship Id="rId78" Type="http://schemas.openxmlformats.org/officeDocument/2006/relationships/slide" Target="slides/slide72.xml"/>
  <Relationship Id="rId79" Type="http://schemas.openxmlformats.org/officeDocument/2006/relationships/slide" Target="slides/slide73.xml"/>
  <Relationship Id="rId80" Type="http://schemas.openxmlformats.org/officeDocument/2006/relationships/slide" Target="slides/slide74.xml"/>
  <Relationship Id="rId81" Type="http://schemas.openxmlformats.org/officeDocument/2006/relationships/slide" Target="slides/slide75.xml"/>
  <Relationship Id="rId82" Type="http://schemas.openxmlformats.org/officeDocument/2006/relationships/slide" Target="slides/slide76.xml"/>
  <Relationship Id="rId83" Type="http://schemas.openxmlformats.org/officeDocument/2006/relationships/slide" Target="slides/slide77.xml"/>
  <Relationship Id="rId84" Type="http://schemas.openxmlformats.org/officeDocument/2006/relationships/slide" Target="slides/slide78.xml"/>
  <Relationship Id="rId85" Type="http://schemas.openxmlformats.org/officeDocument/2006/relationships/slide" Target="slides/slide79.xml"/>
  <Relationship Id="rId86" Type="http://schemas.openxmlformats.org/officeDocument/2006/relationships/slide" Target="slides/slide80.xml"/>
  <Relationship Id="rId87" Type="http://schemas.openxmlformats.org/officeDocument/2006/relationships/slide" Target="slides/slide81.xml"/>
  <Relationship Id="rId88" Type="http://schemas.openxmlformats.org/officeDocument/2006/relationships/slide" Target="slides/slide82.xml"/>
  <Relationship Id="rId89" Type="http://schemas.openxmlformats.org/officeDocument/2006/relationships/slide" Target="slides/slide83.xml"/>
  <Relationship Id="rId90" Type="http://schemas.openxmlformats.org/officeDocument/2006/relationships/slide" Target="slides/slide84.xml"/>
  <Relationship Id="rId91" Type="http://schemas.openxmlformats.org/officeDocument/2006/relationships/slide" Target="slides/slide85.xml"/>
  <Relationship Id="rId92" Type="http://schemas.openxmlformats.org/officeDocument/2006/relationships/slide" Target="slides/slide86.xml"/>
  <Relationship Id="rId93" Type="http://schemas.openxmlformats.org/officeDocument/2006/relationships/slide" Target="slides/slide87.xml"/>
  <Relationship Id="rId94" Type="http://schemas.openxmlformats.org/officeDocument/2006/relationships/slide" Target="slides/slide88.xml"/>
  <Relationship Id="rId95" Type="http://schemas.openxmlformats.org/officeDocument/2006/relationships/slide" Target="slides/slide89.xml"/>
  <Relationship Id="rId96" Type="http://schemas.openxmlformats.org/officeDocument/2006/relationships/slide" Target="slides/slide9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09"/>
            <a:ext cx="10566400" cy="383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09"/>
            <a:ext cx="10566400" cy="383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plot1.png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plot2.png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plot3.png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stem.png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stairs.png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subplot.png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TWO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84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TWO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8: Loops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8 of 12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 loop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loop repeats commands a fixed number of times. The variable k takes each value of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1:3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in turn, one pass per value.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k = 1:3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disp(k)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for loop that displays the numbers 1 to 5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 a result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variable before the loop, then update it on every pass. Here total = total + k adds each k to the running sum, so total ends at 10.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total = 0;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k = 1:4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total = total + k;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total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the numbers 1 to 10 with a for loop and check that total is 55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step size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The colon operator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start:step:stop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sets the step. A negative step counts down, for example 5:-1:1.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1:2:7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1     3     5     7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10:-2:0, then use it as the range of a for loop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while loop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loop repeats as long as its condition is true. Use it when you do not know the number of passes. Change something inside the loop, or it never ends. Press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stop it. Here x ends at 64.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 1;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while x &lt; 50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x = x*2;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n = 5 and subtract 1 in a while loop until n reaches 0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a loop early with 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leaves the loop at once.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skips the rest of the current pass and moves on to the next 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k = 1:10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if k &gt; 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   break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disp(k)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a for loop over 1:10 as soon as k is greater than 3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TWO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9: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9 of 12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function?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function takes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does a calculation and returns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You already call built-in functions such as sqrt and sin. You can also write your own.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 = sqrt(25)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abs(-4) and max([4 9 2]) and name the input and output of each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function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function file starts with the keyword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the output, =, the function name and the inputs in parentheses. Save it with the same name as the function.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function y = timesTwo(x)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y = 2*x;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file named timesTwo.m that contains this function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your function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timesTwo.m is in the Current Folder, call it like any built-in function: its name, then the input in parentheses.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timesTwo(4)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timesTwo with the input 7 and store the result in a variable named r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inputs and outputs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88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Separate the inputs with commas. For more than one output, list the output names in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square brackets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Each output must be assigned inside the function.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86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function [s, p] = sumProd(a, b)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s = a + b;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p = a*b;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437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sumProd.m with two inputs, a and b, and two outputs, s and p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it with several outputs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the outputs in square brackets, in the same order. The names you choose outside the function can differ from the names inside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[s, p] = sumProd(3, 4)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 =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sumProd(5, 6) and save the results in variables named total and prod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stay inside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function has its own workspace. Variables created inside it, such as y in timesTwo, disappear when it finishes and never reach your Workspace.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timesTwo(4);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Unrecognized function 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variable 'y'.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timesTwo(4); and check that y is not in the Workspace panel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TWO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10: Arrays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10 of 12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row vector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stores many values in one variable. Put the values inside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square brackets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separated by spaces or commas, to make a row vector.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 2 3 4]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1     2     3     4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row vector named v with the values 5, 10, 15 and 20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matrix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matrix has rows and columns. Inside the brackets,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semicolon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ends a row. Here the semicolon separates rows, it does not hide output.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2; 3 4]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3     4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2-by-3 matrix named B with the rows 1 2 3 and 4 5 6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Evenly spaced values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linspace(a,b,n)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creates n evenly spaced values from a to b, including both ends. The colon operator a:step:b gives you control of the step instead.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linspace(0,10,3)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0     5    10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5 evenly spaced values from 0 to 1 with linspace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into a vector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Use parentheses to read one element. MATLAB indexing starts at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so v(1) is the first element. The word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means the last element.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[10 20 30];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v(2)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v(end)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first and the last element of v = [10 20 30]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into a matrix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For a matrix, give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first and then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A(2,1) is row 2, column 1. A colon means all: A(1,:) is the whole first row.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2; 3 4];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A(2,1)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A(1,:)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element in row 1, column 2 of A, then the whole second column with A(:,2)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and add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to an index to change that element. Assigning past the end makes the array longer, for example v(4) = 40 adds a fourth element.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[10 20 30];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v(2) = 99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10    99    30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last element of v to 0, then add a fourth element with the value 40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7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and length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number of rows and columns.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largest dimension,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numel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counts all elements.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2; 3 4];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size(A)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2     2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size of B and the number of elements in B with numel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8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on arrays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0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Many built-in functions work on a whole array. For v = [4 9 2 4]: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19,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9,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2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4.75.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the middle value after sorting (4)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the most frequent value (4).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8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[4 9 2 4];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mean(v)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4.7500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mode(v)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99200" y="44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539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the mean, median and mode of v = [4 9 2 4]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Transpose with an apostrophe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An apostrophe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after an array flips rows and columns. A row vector becomes a column vector, and the other way round.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 2 3];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v'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the row vector v into a column vector and store it in a variable named w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455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TWO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43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6500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Loops, functions, arrays, math functions and plotting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5131664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551664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TWO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11: Math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11 of 12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Sum of a vector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sum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adds up all the elements of a vector. Here 1 + 2 + 3 + 1.5 - 1.5 - 2 gives 4.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86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v = [1 2 3 1.5 -1.5 -2];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sum(v)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437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create w = [2 4 6 8] and use sum to check that the total is 20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Sum of a matrix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For a matrix,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sum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adds each column and returns a row vector of column sums.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86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m = [1 2 3; -1.5 1.5 2.5; 4 5 6];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sum(m)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3.5000    8.5000   11.5000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37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find the column sums of [1 2; 3 4] and check that you get 4 and 6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Square root and 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sqrt(x)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square root of x. MATLAB has no built-in constant e: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exp(x)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calculates 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^x, so exp(1) returns 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sqrt(4)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exp(1)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2.7183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calculate the square root of 4 with sqrt, then find e with exp(1)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Complex numbers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Write a complex number with the imaginary unit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i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real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imag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 its two parts.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86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z = 3+4i;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real(z)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437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use imag(z) to find the imaginary part and check that it is 4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Magnitude and conjugate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abs(z)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the magnitude, sqrt(3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^2 + 4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^2).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conj(z)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flips the sign of the imaginary part.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abs(z)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conj(z)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3.0000 - 4.0000i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find angle(z) in radians, which is atan(4/3), and check that it is 0.9273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Exponential and logarithm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exp(x)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^x.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log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the natural logarithm ln(x),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log10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base 10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log2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base 2.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log(100)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4.6052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log10(100)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calculate log2(1024) and check that the answer is 10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7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Trigonometric functions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sin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expect radians, so multiply degrees by pi/180.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sind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takes degrees directly.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sin(30*pi/180)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0.5000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sind(30)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ans 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0.5000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use asind(0.5) to get the angle back, and check that it is 30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Counting with the colon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start:step:stop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builds a row of evenly stepped values. i = 0:2:10 counts from 0 to 10 in steps of 2.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i = 0:2:10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i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0     2     4     6     8    10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403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create a row of the even numbers from 2 to 20 with the colon operator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TWO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12: Plotting and Help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12 of 12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Plot an analog signal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plot(t,y1)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draws an x-y line. Use it for analog, continuous signals.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070913"/>
            <a:ext cx="4918456" cy="16788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62800" y="339596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 = 0:.01:1;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2800" y="373886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y1 = sin(2*pi*2*t);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2800" y="408176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plot(t,y1)</a:t>
            </a:r>
            <a:endParaRPr lang="en-US" sz="1800" dirty="0"/>
          </a:p>
        </p:txBody>
      </p:sp>
      <p:pic>
        <p:nvPicPr>
          <p:cNvPr id="9" name="Image 9" descr="Sine wave drawn with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2209713"/>
            <a:ext cx="5384800" cy="2540000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create t and y1 as shown, then draw the sine wave with plot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Colors, markers and labels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'ro' sets red circles.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title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xlabel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ylabel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label the figure.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070913"/>
            <a:ext cx="4918456" cy="16788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62800" y="32245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plot(t,y1,'ro')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2800" y="35674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title('plot of sin wave')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2800" y="39103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xlabel('time')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2800" y="42532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ylabel('amplitude')</a:t>
            </a:r>
            <a:endParaRPr lang="en-US" sz="1800" dirty="0"/>
          </a:p>
        </p:txBody>
      </p:sp>
      <p:pic>
        <p:nvPicPr>
          <p:cNvPr id="10" name="Image 10" descr="Sine wave with red circle markers, title and axis lab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2209713"/>
            <a:ext cx="5384800" cy="254000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plot y1 again with green stars, using the format 'g*'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Two signals and a legend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Give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plot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several x-y pairs to draw more than one curve, then name them with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legend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426513"/>
            <a:ext cx="4918456" cy="1323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62800" y="357376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y2 = .5*cos(2*pi*5*t*pi/4);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2800" y="391666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plot(t,y1,'mp',t,y2,'g-.')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2800" y="425956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legend('y1','y2')</a:t>
            </a:r>
            <a:endParaRPr lang="en-US" sz="1800" dirty="0"/>
          </a:p>
        </p:txBody>
      </p:sp>
      <p:pic>
        <p:nvPicPr>
          <p:cNvPr id="9" name="Image 9" descr="Two signals with a leg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2209713"/>
            <a:ext cx="5384800" cy="2540000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plot y1 and y2 together and add a legend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Stem: discrete-time signals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stem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draws each sample as a vertical line with a circle on top. Use it for digital, discrete-time signals.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426513"/>
            <a:ext cx="4918456" cy="1323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62800" y="37452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stem(t,y1)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2800" y="40881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title('stem of sin wave')</a:t>
            </a:r>
            <a:endParaRPr lang="en-US" sz="1800" dirty="0"/>
          </a:p>
        </p:txBody>
      </p:sp>
      <p:pic>
        <p:nvPicPr>
          <p:cNvPr id="8" name="Image 8" descr="Stem plot of a sine wa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2209713"/>
            <a:ext cx="5384800" cy="254000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draw stem(t,y1) and compare it with the plot of the same signal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Stairs: sample-and-hold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stairs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holds each value until the next sample, which gives a staircase (sample-and-hold) signal.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426513"/>
            <a:ext cx="4918456" cy="1323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62800" y="37452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stairs(t,y1,'g-')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2800" y="4088113"/>
            <a:ext cx="456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title('stairs of sin wave')</a:t>
            </a:r>
            <a:endParaRPr lang="en-US" sz="1800" dirty="0"/>
          </a:p>
        </p:txBody>
      </p:sp>
      <p:pic>
        <p:nvPicPr>
          <p:cNvPr id="8" name="Image 8" descr="Staircase plot of a sine wa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2209713"/>
            <a:ext cx="5384800" cy="254000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draw the signal with stairs and compare it with stem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Subplot: many plots in one figure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subplot(m,n,p)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splits the figure into an m-by-n grid and selects plot 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070913"/>
            <a:ext cx="4918456" cy="16788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62800" y="3243563"/>
            <a:ext cx="4568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subplot(2,2,1), plot(t,y1,'ro')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2800" y="3510263"/>
            <a:ext cx="4568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subplot(2,2,2), plot(t,y1,'mp',t,y2,'g-.')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2800" y="3776963"/>
            <a:ext cx="4568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subplot(2,2,3), stem(t,y1)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2800" y="4043663"/>
            <a:ext cx="4568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subplot(2,2,4), stairs(t,y1,'g-')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2800" y="4310363"/>
            <a:ext cx="4568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grid on</a:t>
            </a:r>
            <a:endParaRPr lang="en-US" sz="1400" dirty="0"/>
          </a:p>
        </p:txBody>
      </p:sp>
      <p:pic>
        <p:nvPicPr>
          <p:cNvPr id="11" name="Image 11" descr="Four plots in a 2 by 2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2209713"/>
            <a:ext cx="5384800" cy="254000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build the 2-by-2 figure and give each plot its own title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Get help: help and doc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help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shows a short description in the Command Window.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doc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opens the full MATLAB documentation in a separate window, with more detail.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help sin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sin    Sine of argument in radians.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&gt;&gt; doc sin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403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use help and then doc on the function plot and compare what each shows</a:t>
            </a:r>
            <a:endParaRPr lang="en-US" sz="1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FULL EXAMPLE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Subplot: the full script</a:t>
            </a:r>
            <a:endParaRPr lang="en-US" sz="3600" dirty="0"/>
          </a:p>
        </p:txBody>
      </p:sp>
      <p:sp>
        <p:nvSpPr>
          <p:cNvPr id="4" name="Shape 4"/>
          <p:cNvSpPr/>
          <p:nvPr/>
        </p:nvSpPr>
        <p:spPr>
          <a:xfrm>
            <a:off x="812800" y="2209713"/>
            <a:ext cx="5130800" cy="4057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5" name="Text 5"/>
          <p:cNvSpPr/>
          <p:nvPr/>
        </p:nvSpPr>
        <p:spPr>
          <a:xfrm>
            <a:off x="1062800" y="24097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 = 0:.01:1;</a:t>
            </a:r>
            <a:endParaRPr lang="en-US" sz="1600" dirty="0"/>
          </a:p>
        </p:txBody>
      </p:sp>
      <p:sp>
        <p:nvSpPr>
          <p:cNvPr id="6" name="Text 6"/>
          <p:cNvSpPr/>
          <p:nvPr/>
        </p:nvSpPr>
        <p:spPr>
          <a:xfrm>
            <a:off x="1062800" y="27145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y1 = sin(2*pi*2*t);</a:t>
            </a:r>
            <a:endParaRPr lang="en-US" sz="1600" dirty="0"/>
          </a:p>
        </p:txBody>
      </p:sp>
      <p:sp>
        <p:nvSpPr>
          <p:cNvPr id="7" name="Text 7"/>
          <p:cNvSpPr/>
          <p:nvPr/>
        </p:nvSpPr>
        <p:spPr>
          <a:xfrm>
            <a:off x="1062800" y="30193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y2 = .5*cos(2*pi*5*t*pi/4);</a:t>
            </a:r>
            <a:endParaRPr lang="en-US" sz="1600" dirty="0"/>
          </a:p>
        </p:txBody>
      </p:sp>
      <p:sp>
        <p:nvSpPr>
          <p:cNvPr id="8" name="Text 8"/>
          <p:cNvSpPr/>
          <p:nvPr/>
        </p:nvSpPr>
        <p:spPr>
          <a:xfrm>
            <a:off x="1062800" y="33241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subplot(2,2,1)</a:t>
            </a:r>
            <a:endParaRPr lang="en-US" sz="1600" dirty="0"/>
          </a:p>
        </p:txBody>
      </p:sp>
      <p:sp>
        <p:nvSpPr>
          <p:cNvPr id="9" name="Text 9"/>
          <p:cNvSpPr/>
          <p:nvPr/>
        </p:nvSpPr>
        <p:spPr>
          <a:xfrm>
            <a:off x="1062800" y="36289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plot(t,y1,'ro')</a:t>
            </a:r>
            <a:endParaRPr lang="en-US" sz="1600" dirty="0"/>
          </a:p>
        </p:txBody>
      </p:sp>
      <p:sp>
        <p:nvSpPr>
          <p:cNvPr id="10" name="Text 10"/>
          <p:cNvSpPr/>
          <p:nvPr/>
        </p:nvSpPr>
        <p:spPr>
          <a:xfrm>
            <a:off x="1062800" y="39337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title('plot of sin wave')</a:t>
            </a:r>
            <a:endParaRPr lang="en-US" sz="1600" dirty="0"/>
          </a:p>
        </p:txBody>
      </p:sp>
      <p:sp>
        <p:nvSpPr>
          <p:cNvPr id="11" name="Text 11"/>
          <p:cNvSpPr/>
          <p:nvPr/>
        </p:nvSpPr>
        <p:spPr>
          <a:xfrm>
            <a:off x="1062800" y="42385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xlabel('time')</a:t>
            </a:r>
            <a:endParaRPr lang="en-US" sz="1600" dirty="0"/>
          </a:p>
        </p:txBody>
      </p:sp>
      <p:sp>
        <p:nvSpPr>
          <p:cNvPr id="12" name="Text 12"/>
          <p:cNvSpPr/>
          <p:nvPr/>
        </p:nvSpPr>
        <p:spPr>
          <a:xfrm>
            <a:off x="1062800" y="45433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ylabel('amplitude')</a:t>
            </a:r>
            <a:endParaRPr lang="en-US" sz="1600" dirty="0"/>
          </a:p>
        </p:txBody>
      </p:sp>
      <p:sp>
        <p:nvSpPr>
          <p:cNvPr id="13" name="Text 13"/>
          <p:cNvSpPr/>
          <p:nvPr/>
        </p:nvSpPr>
        <p:spPr>
          <a:xfrm>
            <a:off x="1062800" y="48481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subplot(2,2,2)</a:t>
            </a:r>
            <a:endParaRPr lang="en-US" sz="1600" dirty="0"/>
          </a:p>
        </p:txBody>
      </p:sp>
      <p:sp>
        <p:nvSpPr>
          <p:cNvPr id="14" name="Text 14"/>
          <p:cNvSpPr/>
          <p:nvPr/>
        </p:nvSpPr>
        <p:spPr>
          <a:xfrm>
            <a:off x="1062800" y="51529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plot(t,y1,'mp',t,y2,'g-.')</a:t>
            </a:r>
            <a:endParaRPr lang="en-US" sz="1600" dirty="0"/>
          </a:p>
        </p:txBody>
      </p:sp>
      <p:sp>
        <p:nvSpPr>
          <p:cNvPr id="15" name="Text 15"/>
          <p:cNvSpPr/>
          <p:nvPr/>
        </p:nvSpPr>
        <p:spPr>
          <a:xfrm>
            <a:off x="1062800" y="54577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title('plot of sin&amp;cos wave')</a:t>
            </a:r>
            <a:endParaRPr lang="en-US" sz="1600" dirty="0"/>
          </a:p>
        </p:txBody>
      </p:sp>
      <p:sp>
        <p:nvSpPr>
          <p:cNvPr id="16" name="Text 16"/>
          <p:cNvSpPr/>
          <p:nvPr/>
        </p:nvSpPr>
        <p:spPr>
          <a:xfrm>
            <a:off x="1062800" y="57625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legend('y1','y2')</a:t>
            </a:r>
            <a:endParaRPr lang="en-US" sz="1600" dirty="0"/>
          </a:p>
        </p:txBody>
      </p:sp>
      <p:sp>
        <p:nvSpPr>
          <p:cNvPr id="17" name="Shape 17"/>
          <p:cNvSpPr/>
          <p:nvPr/>
        </p:nvSpPr>
        <p:spPr>
          <a:xfrm>
            <a:off x="6247600" y="2209713"/>
            <a:ext cx="5130800" cy="2533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18" name="Text 18"/>
          <p:cNvSpPr/>
          <p:nvPr/>
        </p:nvSpPr>
        <p:spPr>
          <a:xfrm>
            <a:off x="6497600" y="24097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subplot(2,2,3)</a:t>
            </a:r>
            <a:endParaRPr lang="en-US" sz="1600" dirty="0"/>
          </a:p>
        </p:txBody>
      </p:sp>
      <p:sp>
        <p:nvSpPr>
          <p:cNvPr id="19" name="Text 19"/>
          <p:cNvSpPr/>
          <p:nvPr/>
        </p:nvSpPr>
        <p:spPr>
          <a:xfrm>
            <a:off x="6497600" y="27145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stem(t,y1)</a:t>
            </a:r>
            <a:endParaRPr lang="en-US" sz="1600" dirty="0"/>
          </a:p>
        </p:txBody>
      </p:sp>
      <p:sp>
        <p:nvSpPr>
          <p:cNvPr id="20" name="Text 20"/>
          <p:cNvSpPr/>
          <p:nvPr/>
        </p:nvSpPr>
        <p:spPr>
          <a:xfrm>
            <a:off x="6497600" y="30193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title('stem of sin wave')</a:t>
            </a:r>
            <a:endParaRPr lang="en-US" sz="1600" dirty="0"/>
          </a:p>
        </p:txBody>
      </p:sp>
      <p:sp>
        <p:nvSpPr>
          <p:cNvPr id="21" name="Text 21"/>
          <p:cNvSpPr/>
          <p:nvPr/>
        </p:nvSpPr>
        <p:spPr>
          <a:xfrm>
            <a:off x="6497600" y="33241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subplot(2,2,4)</a:t>
            </a:r>
            <a:endParaRPr lang="en-US" sz="1600" dirty="0"/>
          </a:p>
        </p:txBody>
      </p:sp>
      <p:sp>
        <p:nvSpPr>
          <p:cNvPr id="22" name="Text 22"/>
          <p:cNvSpPr/>
          <p:nvPr/>
        </p:nvSpPr>
        <p:spPr>
          <a:xfrm>
            <a:off x="6497600" y="36289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stairs(t,y1,'g-')</a:t>
            </a:r>
            <a:endParaRPr lang="en-US" sz="1600" dirty="0"/>
          </a:p>
        </p:txBody>
      </p:sp>
      <p:sp>
        <p:nvSpPr>
          <p:cNvPr id="23" name="Text 23"/>
          <p:cNvSpPr/>
          <p:nvPr/>
        </p:nvSpPr>
        <p:spPr>
          <a:xfrm>
            <a:off x="6497600" y="39337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title('stairs of sin wave')</a:t>
            </a:r>
            <a:endParaRPr lang="en-US" sz="1600" dirty="0"/>
          </a:p>
        </p:txBody>
      </p:sp>
      <p:sp>
        <p:nvSpPr>
          <p:cNvPr id="24" name="Text 24"/>
          <p:cNvSpPr/>
          <p:nvPr/>
        </p:nvSpPr>
        <p:spPr>
          <a:xfrm>
            <a:off x="6497600" y="4238513"/>
            <a:ext cx="478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grid 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LAB Onramp – Lesson 1: Enter Commands">
  <a:themeElements>
    <a:clrScheme name="MATLAB Onramp – Lesson 1: Enter Commands">
      <a:dk1>
        <a:srgbClr val="16202E"/>
      </a:dk1>
      <a:lt1>
        <a:srgbClr val="F4F1EA"/>
      </a:lt1>
      <a:dk2>
        <a:srgbClr val="4E545D"/>
      </a:dk2>
      <a:lt2>
        <a:srgbClr val="DEDCD7"/>
      </a:lt2>
      <a:accent1>
        <a:srgbClr val="B44A12"/>
      </a:accent1>
      <a:accent2>
        <a:srgbClr val="1C5FA8"/>
      </a:accent2>
      <a:accent3>
        <a:srgbClr val="F08A4B"/>
      </a:accent3>
      <a:accent4>
        <a:srgbClr val="B9C7D8"/>
      </a:accent4>
      <a:accent5>
        <a:srgbClr val="9AA0A6"/>
      </a:accent5>
      <a:accent6>
        <a:srgbClr val="6F7479"/>
      </a:accent6>
      <a:hlink>
        <a:srgbClr val="0563C1"/>
      </a:hlink>
      <a:folHlink>
        <a:srgbClr val="954F72"/>
      </a:folHlink>
    </a:clrScheme>
    <a:fontScheme name="MATLAB Onramp – Lesson 1: Enter Command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Onramp – Lesson 1: Enter Commands</dc:title>
  <dc:subject/>
  <dc:creator/>
  <cp:lastModifiedBy/>
  <cp:revision>1</cp:revision>
  <dcterms:created xsi:type="dcterms:W3CDTF">2026-10-07T02:29:04Z</dcterms:created>
  <dcterms:modified xsi:type="dcterms:W3CDTF">2026-10-07T02:29:04Z</dcterms:modified>
</cp:coreProperties>
</file>